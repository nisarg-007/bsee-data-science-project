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  <p:sldMasterId id="2147483714" r:id="rId2"/>
  </p:sldMasterIdLst>
  <p:notesMasterIdLst>
    <p:notesMasterId r:id="rId28"/>
  </p:notesMasterIdLst>
  <p:handoutMasterIdLst>
    <p:handoutMasterId r:id="rId29"/>
  </p:handoutMasterIdLst>
  <p:sldIdLst>
    <p:sldId id="256" r:id="rId3"/>
    <p:sldId id="281" r:id="rId4"/>
    <p:sldId id="257" r:id="rId5"/>
    <p:sldId id="282" r:id="rId6"/>
    <p:sldId id="258" r:id="rId7"/>
    <p:sldId id="272" r:id="rId8"/>
    <p:sldId id="273" r:id="rId9"/>
    <p:sldId id="274" r:id="rId10"/>
    <p:sldId id="275" r:id="rId11"/>
    <p:sldId id="276" r:id="rId12"/>
    <p:sldId id="259" r:id="rId13"/>
    <p:sldId id="267" r:id="rId14"/>
    <p:sldId id="268" r:id="rId15"/>
    <p:sldId id="270" r:id="rId16"/>
    <p:sldId id="271" r:id="rId17"/>
    <p:sldId id="269" r:id="rId18"/>
    <p:sldId id="260" r:id="rId19"/>
    <p:sldId id="261" r:id="rId20"/>
    <p:sldId id="277" r:id="rId21"/>
    <p:sldId id="278" r:id="rId22"/>
    <p:sldId id="279" r:id="rId23"/>
    <p:sldId id="280" r:id="rId24"/>
    <p:sldId id="263" r:id="rId25"/>
    <p:sldId id="264" r:id="rId26"/>
    <p:sldId id="26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931385-1820-4EBC-A8EF-7E40F07C292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7C5317-484B-4457-B0C7-02BCC05AE1F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Used processed dataset (df_viz = df_Gas_Oil.copy())</a:t>
          </a:r>
          <a:endParaRPr lang="en-US"/>
        </a:p>
      </dgm:t>
    </dgm:pt>
    <dgm:pt modelId="{2AE0B3ED-7876-4C28-93F6-8B117EA9A6B9}" type="parTrans" cxnId="{BAB855A1-7723-4743-A51A-5E56C21C1F34}">
      <dgm:prSet/>
      <dgm:spPr/>
      <dgm:t>
        <a:bodyPr/>
        <a:lstStyle/>
        <a:p>
          <a:endParaRPr lang="en-US"/>
        </a:p>
      </dgm:t>
    </dgm:pt>
    <dgm:pt modelId="{3EC46DF1-6849-44C0-9351-E48A04BCE489}" type="sibTrans" cxnId="{BAB855A1-7723-4743-A51A-5E56C21C1F34}">
      <dgm:prSet/>
      <dgm:spPr/>
      <dgm:t>
        <a:bodyPr/>
        <a:lstStyle/>
        <a:p>
          <a:endParaRPr lang="en-US"/>
        </a:p>
      </dgm:t>
    </dgm:pt>
    <dgm:pt modelId="{28D9872A-F3DE-4AF1-A257-B343BCC065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Visuals created </a:t>
          </a:r>
          <a:r>
            <a:rPr lang="en-US" i="1"/>
            <a:t>after</a:t>
          </a:r>
          <a:r>
            <a:rPr lang="en-US"/>
            <a:t> cleaning, transformations, and feature engineering</a:t>
          </a:r>
        </a:p>
      </dgm:t>
    </dgm:pt>
    <dgm:pt modelId="{4D90A3C4-B2B3-4827-8FE3-A1F694BCF861}" type="parTrans" cxnId="{9CAC3733-2769-4784-936E-B58E7EA0CBAC}">
      <dgm:prSet/>
      <dgm:spPr/>
      <dgm:t>
        <a:bodyPr/>
        <a:lstStyle/>
        <a:p>
          <a:endParaRPr lang="en-US"/>
        </a:p>
      </dgm:t>
    </dgm:pt>
    <dgm:pt modelId="{42BE46E4-255B-479A-B433-06D073D93E2D}" type="sibTrans" cxnId="{9CAC3733-2769-4784-936E-B58E7EA0CBAC}">
      <dgm:prSet/>
      <dgm:spPr/>
      <dgm:t>
        <a:bodyPr/>
        <a:lstStyle/>
        <a:p>
          <a:endParaRPr lang="en-US"/>
        </a:p>
      </dgm:t>
    </dgm:pt>
    <dgm:pt modelId="{E8148A12-EC66-4055-AD92-7E2158DF2C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Focused on depth behavior, drilling patterns, regional distribution</a:t>
          </a:r>
        </a:p>
      </dgm:t>
    </dgm:pt>
    <dgm:pt modelId="{771CFEB5-FEC8-4796-AC10-0A03FFD16994}" type="parTrans" cxnId="{3FC923F8-D884-4AD8-8AC6-BD5F5A21D0F7}">
      <dgm:prSet/>
      <dgm:spPr/>
      <dgm:t>
        <a:bodyPr/>
        <a:lstStyle/>
        <a:p>
          <a:endParaRPr lang="en-US"/>
        </a:p>
      </dgm:t>
    </dgm:pt>
    <dgm:pt modelId="{413FA42D-2176-4A53-B7BD-D33471CA7C09}" type="sibTrans" cxnId="{3FC923F8-D884-4AD8-8AC6-BD5F5A21D0F7}">
      <dgm:prSet/>
      <dgm:spPr/>
      <dgm:t>
        <a:bodyPr/>
        <a:lstStyle/>
        <a:p>
          <a:endParaRPr lang="en-US"/>
        </a:p>
      </dgm:t>
    </dgm:pt>
    <dgm:pt modelId="{9B422DAE-BE76-46F6-BCAA-0FDE0020B14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Combined univariate, bivariate, and multivariate visualizations</a:t>
          </a:r>
          <a:endParaRPr lang="en-US"/>
        </a:p>
      </dgm:t>
    </dgm:pt>
    <dgm:pt modelId="{843B00C5-5868-4A56-A2B7-5C3F49030F08}" type="parTrans" cxnId="{EBFFF2FE-383F-4B46-A6C9-E85DFCD5281A}">
      <dgm:prSet/>
      <dgm:spPr/>
      <dgm:t>
        <a:bodyPr/>
        <a:lstStyle/>
        <a:p>
          <a:endParaRPr lang="en-US"/>
        </a:p>
      </dgm:t>
    </dgm:pt>
    <dgm:pt modelId="{CC8E56AC-2193-4DB1-AF3C-5894794BDE37}" type="sibTrans" cxnId="{EBFFF2FE-383F-4B46-A6C9-E85DFCD5281A}">
      <dgm:prSet/>
      <dgm:spPr/>
      <dgm:t>
        <a:bodyPr/>
        <a:lstStyle/>
        <a:p>
          <a:endParaRPr lang="en-US"/>
        </a:p>
      </dgm:t>
    </dgm:pt>
    <dgm:pt modelId="{462D674E-243A-4C32-B2C6-D772A14182A7}" type="pres">
      <dgm:prSet presAssocID="{86931385-1820-4EBC-A8EF-7E40F07C292C}" presName="root" presStyleCnt="0">
        <dgm:presLayoutVars>
          <dgm:dir/>
          <dgm:resizeHandles val="exact"/>
        </dgm:presLayoutVars>
      </dgm:prSet>
      <dgm:spPr/>
    </dgm:pt>
    <dgm:pt modelId="{B8049AFF-991A-4FD5-AC72-787B11FEC9E0}" type="pres">
      <dgm:prSet presAssocID="{757C5317-484B-4457-B0C7-02BCC05AE1FD}" presName="compNode" presStyleCnt="0"/>
      <dgm:spPr/>
    </dgm:pt>
    <dgm:pt modelId="{6E96DF47-CB6B-4FAE-B77F-913C5818F836}" type="pres">
      <dgm:prSet presAssocID="{757C5317-484B-4457-B0C7-02BCC05AE1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A6F74F7-8512-452D-9488-3A8632441C5E}" type="pres">
      <dgm:prSet presAssocID="{757C5317-484B-4457-B0C7-02BCC05AE1FD}" presName="spaceRect" presStyleCnt="0"/>
      <dgm:spPr/>
    </dgm:pt>
    <dgm:pt modelId="{2A85F04B-9FFF-4465-A43F-F9ADAD0DC86F}" type="pres">
      <dgm:prSet presAssocID="{757C5317-484B-4457-B0C7-02BCC05AE1FD}" presName="textRect" presStyleLbl="revTx" presStyleIdx="0" presStyleCnt="4">
        <dgm:presLayoutVars>
          <dgm:chMax val="1"/>
          <dgm:chPref val="1"/>
        </dgm:presLayoutVars>
      </dgm:prSet>
      <dgm:spPr/>
    </dgm:pt>
    <dgm:pt modelId="{2696202E-DC47-4BDF-85F6-EEA2DBF2C680}" type="pres">
      <dgm:prSet presAssocID="{3EC46DF1-6849-44C0-9351-E48A04BCE489}" presName="sibTrans" presStyleCnt="0"/>
      <dgm:spPr/>
    </dgm:pt>
    <dgm:pt modelId="{E6A67204-CC6F-42DD-A977-49112B0D8E49}" type="pres">
      <dgm:prSet presAssocID="{28D9872A-F3DE-4AF1-A257-B343BCC06595}" presName="compNode" presStyleCnt="0"/>
      <dgm:spPr/>
    </dgm:pt>
    <dgm:pt modelId="{5EEAF7DF-BD2D-45EC-8D39-82DF58D65B9E}" type="pres">
      <dgm:prSet presAssocID="{28D9872A-F3DE-4AF1-A257-B343BCC065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E02B468-97DA-4849-83D5-3F820E98ACD0}" type="pres">
      <dgm:prSet presAssocID="{28D9872A-F3DE-4AF1-A257-B343BCC06595}" presName="spaceRect" presStyleCnt="0"/>
      <dgm:spPr/>
    </dgm:pt>
    <dgm:pt modelId="{D34204FE-3654-4E82-8700-6F6CA33DA91A}" type="pres">
      <dgm:prSet presAssocID="{28D9872A-F3DE-4AF1-A257-B343BCC06595}" presName="textRect" presStyleLbl="revTx" presStyleIdx="1" presStyleCnt="4">
        <dgm:presLayoutVars>
          <dgm:chMax val="1"/>
          <dgm:chPref val="1"/>
        </dgm:presLayoutVars>
      </dgm:prSet>
      <dgm:spPr/>
    </dgm:pt>
    <dgm:pt modelId="{F5567CF1-A222-420B-B8A5-2C11071D45CE}" type="pres">
      <dgm:prSet presAssocID="{42BE46E4-255B-479A-B433-06D073D93E2D}" presName="sibTrans" presStyleCnt="0"/>
      <dgm:spPr/>
    </dgm:pt>
    <dgm:pt modelId="{0DD2C153-0DD7-4741-805A-4BA4BAB0BB69}" type="pres">
      <dgm:prSet presAssocID="{E8148A12-EC66-4055-AD92-7E2158DF2CC3}" presName="compNode" presStyleCnt="0"/>
      <dgm:spPr/>
    </dgm:pt>
    <dgm:pt modelId="{8CE9CAD7-0EEB-48D6-9473-09DC9F4BEA1D}" type="pres">
      <dgm:prSet presAssocID="{E8148A12-EC66-4055-AD92-7E2158DF2C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FE302C3D-9197-4494-9FBC-4EC565C3358B}" type="pres">
      <dgm:prSet presAssocID="{E8148A12-EC66-4055-AD92-7E2158DF2CC3}" presName="spaceRect" presStyleCnt="0"/>
      <dgm:spPr/>
    </dgm:pt>
    <dgm:pt modelId="{B6671B77-024F-439D-9FD1-D33A766322E2}" type="pres">
      <dgm:prSet presAssocID="{E8148A12-EC66-4055-AD92-7E2158DF2CC3}" presName="textRect" presStyleLbl="revTx" presStyleIdx="2" presStyleCnt="4">
        <dgm:presLayoutVars>
          <dgm:chMax val="1"/>
          <dgm:chPref val="1"/>
        </dgm:presLayoutVars>
      </dgm:prSet>
      <dgm:spPr/>
    </dgm:pt>
    <dgm:pt modelId="{9B6AC1AD-6BB0-4D21-BF0E-7C65AE55BF02}" type="pres">
      <dgm:prSet presAssocID="{413FA42D-2176-4A53-B7BD-D33471CA7C09}" presName="sibTrans" presStyleCnt="0"/>
      <dgm:spPr/>
    </dgm:pt>
    <dgm:pt modelId="{F4728897-6AE8-4AEC-9153-772CCA38D405}" type="pres">
      <dgm:prSet presAssocID="{9B422DAE-BE76-46F6-BCAA-0FDE0020B140}" presName="compNode" presStyleCnt="0"/>
      <dgm:spPr/>
    </dgm:pt>
    <dgm:pt modelId="{2940A20D-279F-40E2-9174-B403BA24EF40}" type="pres">
      <dgm:prSet presAssocID="{9B422DAE-BE76-46F6-BCAA-0FDE0020B1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DBF5BFAD-244C-411A-B73D-E3B63FA82655}" type="pres">
      <dgm:prSet presAssocID="{9B422DAE-BE76-46F6-BCAA-0FDE0020B140}" presName="spaceRect" presStyleCnt="0"/>
      <dgm:spPr/>
    </dgm:pt>
    <dgm:pt modelId="{2F1BDA89-5046-4C48-95E6-903153F7A002}" type="pres">
      <dgm:prSet presAssocID="{9B422DAE-BE76-46F6-BCAA-0FDE0020B1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CAC3733-2769-4784-936E-B58E7EA0CBAC}" srcId="{86931385-1820-4EBC-A8EF-7E40F07C292C}" destId="{28D9872A-F3DE-4AF1-A257-B343BCC06595}" srcOrd="1" destOrd="0" parTransId="{4D90A3C4-B2B3-4827-8FE3-A1F694BCF861}" sibTransId="{42BE46E4-255B-479A-B433-06D073D93E2D}"/>
    <dgm:cxn modelId="{67A8FE92-208B-4F2C-A37E-CB63B8699BC4}" type="presOf" srcId="{757C5317-484B-4457-B0C7-02BCC05AE1FD}" destId="{2A85F04B-9FFF-4465-A43F-F9ADAD0DC86F}" srcOrd="0" destOrd="0" presId="urn:microsoft.com/office/officeart/2018/2/layout/IconLabelList"/>
    <dgm:cxn modelId="{9AE6D89D-B975-499A-B46B-1610A4F8FB7E}" type="presOf" srcId="{86931385-1820-4EBC-A8EF-7E40F07C292C}" destId="{462D674E-243A-4C32-B2C6-D772A14182A7}" srcOrd="0" destOrd="0" presId="urn:microsoft.com/office/officeart/2018/2/layout/IconLabelList"/>
    <dgm:cxn modelId="{BAB855A1-7723-4743-A51A-5E56C21C1F34}" srcId="{86931385-1820-4EBC-A8EF-7E40F07C292C}" destId="{757C5317-484B-4457-B0C7-02BCC05AE1FD}" srcOrd="0" destOrd="0" parTransId="{2AE0B3ED-7876-4C28-93F6-8B117EA9A6B9}" sibTransId="{3EC46DF1-6849-44C0-9351-E48A04BCE489}"/>
    <dgm:cxn modelId="{61988ED3-1E5C-48DB-BCB7-E145B444DB12}" type="presOf" srcId="{28D9872A-F3DE-4AF1-A257-B343BCC06595}" destId="{D34204FE-3654-4E82-8700-6F6CA33DA91A}" srcOrd="0" destOrd="0" presId="urn:microsoft.com/office/officeart/2018/2/layout/IconLabelList"/>
    <dgm:cxn modelId="{91BB1CF1-2527-4D86-8403-DF49E0CF76DC}" type="presOf" srcId="{E8148A12-EC66-4055-AD92-7E2158DF2CC3}" destId="{B6671B77-024F-439D-9FD1-D33A766322E2}" srcOrd="0" destOrd="0" presId="urn:microsoft.com/office/officeart/2018/2/layout/IconLabelList"/>
    <dgm:cxn modelId="{3FC923F8-D884-4AD8-8AC6-BD5F5A21D0F7}" srcId="{86931385-1820-4EBC-A8EF-7E40F07C292C}" destId="{E8148A12-EC66-4055-AD92-7E2158DF2CC3}" srcOrd="2" destOrd="0" parTransId="{771CFEB5-FEC8-4796-AC10-0A03FFD16994}" sibTransId="{413FA42D-2176-4A53-B7BD-D33471CA7C09}"/>
    <dgm:cxn modelId="{0AEA27FD-F99E-4F79-864F-850BF5FEAEBE}" type="presOf" srcId="{9B422DAE-BE76-46F6-BCAA-0FDE0020B140}" destId="{2F1BDA89-5046-4C48-95E6-903153F7A002}" srcOrd="0" destOrd="0" presId="urn:microsoft.com/office/officeart/2018/2/layout/IconLabelList"/>
    <dgm:cxn modelId="{EBFFF2FE-383F-4B46-A6C9-E85DFCD5281A}" srcId="{86931385-1820-4EBC-A8EF-7E40F07C292C}" destId="{9B422DAE-BE76-46F6-BCAA-0FDE0020B140}" srcOrd="3" destOrd="0" parTransId="{843B00C5-5868-4A56-A2B7-5C3F49030F08}" sibTransId="{CC8E56AC-2193-4DB1-AF3C-5894794BDE37}"/>
    <dgm:cxn modelId="{28516193-4378-456A-9865-CE8EEF95E401}" type="presParOf" srcId="{462D674E-243A-4C32-B2C6-D772A14182A7}" destId="{B8049AFF-991A-4FD5-AC72-787B11FEC9E0}" srcOrd="0" destOrd="0" presId="urn:microsoft.com/office/officeart/2018/2/layout/IconLabelList"/>
    <dgm:cxn modelId="{65679B76-5BE9-4688-9E70-888A58040443}" type="presParOf" srcId="{B8049AFF-991A-4FD5-AC72-787B11FEC9E0}" destId="{6E96DF47-CB6B-4FAE-B77F-913C5818F836}" srcOrd="0" destOrd="0" presId="urn:microsoft.com/office/officeart/2018/2/layout/IconLabelList"/>
    <dgm:cxn modelId="{DBC050E7-16DD-4AB5-8587-8627B174EE18}" type="presParOf" srcId="{B8049AFF-991A-4FD5-AC72-787B11FEC9E0}" destId="{2A6F74F7-8512-452D-9488-3A8632441C5E}" srcOrd="1" destOrd="0" presId="urn:microsoft.com/office/officeart/2018/2/layout/IconLabelList"/>
    <dgm:cxn modelId="{0DAAC8D2-16E1-4FE6-A619-68837A227265}" type="presParOf" srcId="{B8049AFF-991A-4FD5-AC72-787B11FEC9E0}" destId="{2A85F04B-9FFF-4465-A43F-F9ADAD0DC86F}" srcOrd="2" destOrd="0" presId="urn:microsoft.com/office/officeart/2018/2/layout/IconLabelList"/>
    <dgm:cxn modelId="{0CD4025E-06D8-4F16-A4FB-97E0182878D6}" type="presParOf" srcId="{462D674E-243A-4C32-B2C6-D772A14182A7}" destId="{2696202E-DC47-4BDF-85F6-EEA2DBF2C680}" srcOrd="1" destOrd="0" presId="urn:microsoft.com/office/officeart/2018/2/layout/IconLabelList"/>
    <dgm:cxn modelId="{7C27957E-304B-4240-A7C1-C266AAAE0DF2}" type="presParOf" srcId="{462D674E-243A-4C32-B2C6-D772A14182A7}" destId="{E6A67204-CC6F-42DD-A977-49112B0D8E49}" srcOrd="2" destOrd="0" presId="urn:microsoft.com/office/officeart/2018/2/layout/IconLabelList"/>
    <dgm:cxn modelId="{F033B5CB-FB61-4014-ADF2-0B77235C66B7}" type="presParOf" srcId="{E6A67204-CC6F-42DD-A977-49112B0D8E49}" destId="{5EEAF7DF-BD2D-45EC-8D39-82DF58D65B9E}" srcOrd="0" destOrd="0" presId="urn:microsoft.com/office/officeart/2018/2/layout/IconLabelList"/>
    <dgm:cxn modelId="{BF72AF60-B0DC-4219-9E4C-7C245D9664B3}" type="presParOf" srcId="{E6A67204-CC6F-42DD-A977-49112B0D8E49}" destId="{FE02B468-97DA-4849-83D5-3F820E98ACD0}" srcOrd="1" destOrd="0" presId="urn:microsoft.com/office/officeart/2018/2/layout/IconLabelList"/>
    <dgm:cxn modelId="{9817B54C-E744-4091-8F3A-AEB1274B6B66}" type="presParOf" srcId="{E6A67204-CC6F-42DD-A977-49112B0D8E49}" destId="{D34204FE-3654-4E82-8700-6F6CA33DA91A}" srcOrd="2" destOrd="0" presId="urn:microsoft.com/office/officeart/2018/2/layout/IconLabelList"/>
    <dgm:cxn modelId="{1B9A2D57-5DDC-4121-8DE9-00EA23296F23}" type="presParOf" srcId="{462D674E-243A-4C32-B2C6-D772A14182A7}" destId="{F5567CF1-A222-420B-B8A5-2C11071D45CE}" srcOrd="3" destOrd="0" presId="urn:microsoft.com/office/officeart/2018/2/layout/IconLabelList"/>
    <dgm:cxn modelId="{E688C1FF-09B5-470B-B0AD-3BFC7B16B237}" type="presParOf" srcId="{462D674E-243A-4C32-B2C6-D772A14182A7}" destId="{0DD2C153-0DD7-4741-805A-4BA4BAB0BB69}" srcOrd="4" destOrd="0" presId="urn:microsoft.com/office/officeart/2018/2/layout/IconLabelList"/>
    <dgm:cxn modelId="{9C2DD0CE-8845-48F7-AD1B-59B3430B51F3}" type="presParOf" srcId="{0DD2C153-0DD7-4741-805A-4BA4BAB0BB69}" destId="{8CE9CAD7-0EEB-48D6-9473-09DC9F4BEA1D}" srcOrd="0" destOrd="0" presId="urn:microsoft.com/office/officeart/2018/2/layout/IconLabelList"/>
    <dgm:cxn modelId="{72A82A38-74DD-49AD-9AEC-2DBE29FD205E}" type="presParOf" srcId="{0DD2C153-0DD7-4741-805A-4BA4BAB0BB69}" destId="{FE302C3D-9197-4494-9FBC-4EC565C3358B}" srcOrd="1" destOrd="0" presId="urn:microsoft.com/office/officeart/2018/2/layout/IconLabelList"/>
    <dgm:cxn modelId="{CC4B9D89-EDCF-48CD-9AB5-EE74329B3B1F}" type="presParOf" srcId="{0DD2C153-0DD7-4741-805A-4BA4BAB0BB69}" destId="{B6671B77-024F-439D-9FD1-D33A766322E2}" srcOrd="2" destOrd="0" presId="urn:microsoft.com/office/officeart/2018/2/layout/IconLabelList"/>
    <dgm:cxn modelId="{BB860906-BEB5-4216-A25C-8480419A0855}" type="presParOf" srcId="{462D674E-243A-4C32-B2C6-D772A14182A7}" destId="{9B6AC1AD-6BB0-4D21-BF0E-7C65AE55BF02}" srcOrd="5" destOrd="0" presId="urn:microsoft.com/office/officeart/2018/2/layout/IconLabelList"/>
    <dgm:cxn modelId="{E2CFEB7A-5229-4875-9EFE-EB930569FB78}" type="presParOf" srcId="{462D674E-243A-4C32-B2C6-D772A14182A7}" destId="{F4728897-6AE8-4AEC-9153-772CCA38D405}" srcOrd="6" destOrd="0" presId="urn:microsoft.com/office/officeart/2018/2/layout/IconLabelList"/>
    <dgm:cxn modelId="{370799AD-BBD8-4091-8952-E7E1C65F1B7E}" type="presParOf" srcId="{F4728897-6AE8-4AEC-9153-772CCA38D405}" destId="{2940A20D-279F-40E2-9174-B403BA24EF40}" srcOrd="0" destOrd="0" presId="urn:microsoft.com/office/officeart/2018/2/layout/IconLabelList"/>
    <dgm:cxn modelId="{5728BDC2-259E-433A-B315-1616805FD144}" type="presParOf" srcId="{F4728897-6AE8-4AEC-9153-772CCA38D405}" destId="{DBF5BFAD-244C-411A-B73D-E3B63FA82655}" srcOrd="1" destOrd="0" presId="urn:microsoft.com/office/officeart/2018/2/layout/IconLabelList"/>
    <dgm:cxn modelId="{6020CF72-41DF-4D26-A860-747F5DE12BFE}" type="presParOf" srcId="{F4728897-6AE8-4AEC-9153-772CCA38D405}" destId="{2F1BDA89-5046-4C48-95E6-903153F7A0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8836C0-2C6C-42C8-8EDE-8618F9C6884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0BE8D7-7E2C-43AB-AA16-CCCD507619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Water Depth Distribution:</a:t>
          </a:r>
          <a:r>
            <a:rPr lang="en-US"/>
            <a:t> Majority of wells in shallow–mid-depth waters</a:t>
          </a:r>
        </a:p>
      </dgm:t>
    </dgm:pt>
    <dgm:pt modelId="{E33C261C-1CF2-4365-93B2-413749EFFF2C}" type="parTrans" cxnId="{DF746FBA-4396-4352-8F78-1B3E2445148F}">
      <dgm:prSet/>
      <dgm:spPr/>
      <dgm:t>
        <a:bodyPr/>
        <a:lstStyle/>
        <a:p>
          <a:endParaRPr lang="en-US"/>
        </a:p>
      </dgm:t>
    </dgm:pt>
    <dgm:pt modelId="{26B39C1F-C48D-4BF3-B6EF-93038F067E11}" type="sibTrans" cxnId="{DF746FBA-4396-4352-8F78-1B3E244514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5827DB-7982-4194-B29D-A513153FE1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Measured Depth (MD):</a:t>
          </a:r>
          <a:r>
            <a:rPr lang="en-US" dirty="0"/>
            <a:t> Most wells drilled between 8,000–12,000 feet</a:t>
          </a:r>
        </a:p>
      </dgm:t>
    </dgm:pt>
    <dgm:pt modelId="{124B11D1-CB9E-439E-A3C5-AE1B81F35FAA}" type="parTrans" cxnId="{C46C0E9B-8E45-4461-9611-C7C89CA7950B}">
      <dgm:prSet/>
      <dgm:spPr/>
      <dgm:t>
        <a:bodyPr/>
        <a:lstStyle/>
        <a:p>
          <a:endParaRPr lang="en-US"/>
        </a:p>
      </dgm:t>
    </dgm:pt>
    <dgm:pt modelId="{CF900FAC-2B5B-4641-8AA6-819CD52528FD}" type="sibTrans" cxnId="{C46C0E9B-8E45-4461-9611-C7C89CA7950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BD5CFDC-8CE4-4F9A-8039-D1C6C4036B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Multi-peaked MD distribution → different drilling programs</a:t>
          </a:r>
        </a:p>
      </dgm:t>
    </dgm:pt>
    <dgm:pt modelId="{D12AB9AA-0353-41B0-8CE1-5A7BD4779275}" type="parTrans" cxnId="{5C510DE4-4D27-467F-B051-39F456D55CA7}">
      <dgm:prSet/>
      <dgm:spPr/>
      <dgm:t>
        <a:bodyPr/>
        <a:lstStyle/>
        <a:p>
          <a:endParaRPr lang="en-US"/>
        </a:p>
      </dgm:t>
    </dgm:pt>
    <dgm:pt modelId="{AE0903B1-9F53-48C0-ADF6-27B5CD6A7555}" type="sibTrans" cxnId="{5C510DE4-4D27-467F-B051-39F456D55C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407C6E-5327-4F27-BAFD-99B75DD383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Reveals environmental and operational character of wells</a:t>
          </a:r>
        </a:p>
      </dgm:t>
    </dgm:pt>
    <dgm:pt modelId="{62AAD575-D6C8-45F1-A8A3-BA0066C3C537}" type="parTrans" cxnId="{8D1947F9-1C12-4643-A292-86521561D887}">
      <dgm:prSet/>
      <dgm:spPr/>
      <dgm:t>
        <a:bodyPr/>
        <a:lstStyle/>
        <a:p>
          <a:endParaRPr lang="en-US"/>
        </a:p>
      </dgm:t>
    </dgm:pt>
    <dgm:pt modelId="{EB94C165-0C7E-4A1D-8F1F-F5D627C1B4B6}" type="sibTrans" cxnId="{8D1947F9-1C12-4643-A292-86521561D887}">
      <dgm:prSet/>
      <dgm:spPr/>
      <dgm:t>
        <a:bodyPr/>
        <a:lstStyle/>
        <a:p>
          <a:endParaRPr lang="en-US"/>
        </a:p>
      </dgm:t>
    </dgm:pt>
    <dgm:pt modelId="{FC9E6088-96E7-460E-B3B2-7983A932DDCC}" type="pres">
      <dgm:prSet presAssocID="{5E8836C0-2C6C-42C8-8EDE-8618F9C68847}" presName="root" presStyleCnt="0">
        <dgm:presLayoutVars>
          <dgm:dir/>
          <dgm:resizeHandles val="exact"/>
        </dgm:presLayoutVars>
      </dgm:prSet>
      <dgm:spPr/>
    </dgm:pt>
    <dgm:pt modelId="{ADD64FFE-E18E-46B5-9B15-B2283768A412}" type="pres">
      <dgm:prSet presAssocID="{0B0BE8D7-7E2C-43AB-AA16-CCCD50761933}" presName="compNode" presStyleCnt="0"/>
      <dgm:spPr/>
    </dgm:pt>
    <dgm:pt modelId="{378FBB43-8FAD-48AB-84E7-282CF9DE62D6}" type="pres">
      <dgm:prSet presAssocID="{0B0BE8D7-7E2C-43AB-AA16-CCCD507619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640711C4-6122-4902-9062-EA6A4F78DA9F}" type="pres">
      <dgm:prSet presAssocID="{0B0BE8D7-7E2C-43AB-AA16-CCCD50761933}" presName="spaceRect" presStyleCnt="0"/>
      <dgm:spPr/>
    </dgm:pt>
    <dgm:pt modelId="{7126E80E-06B5-4284-8A51-DC4735091E23}" type="pres">
      <dgm:prSet presAssocID="{0B0BE8D7-7E2C-43AB-AA16-CCCD50761933}" presName="textRect" presStyleLbl="revTx" presStyleIdx="0" presStyleCnt="4">
        <dgm:presLayoutVars>
          <dgm:chMax val="1"/>
          <dgm:chPref val="1"/>
        </dgm:presLayoutVars>
      </dgm:prSet>
      <dgm:spPr/>
    </dgm:pt>
    <dgm:pt modelId="{787EDC07-5702-4C93-8F24-6E6A23AC340F}" type="pres">
      <dgm:prSet presAssocID="{26B39C1F-C48D-4BF3-B6EF-93038F067E11}" presName="sibTrans" presStyleCnt="0"/>
      <dgm:spPr/>
    </dgm:pt>
    <dgm:pt modelId="{AD8CF2EE-23B3-4BDE-A4BE-32200F341B3F}" type="pres">
      <dgm:prSet presAssocID="{BD5827DB-7982-4194-B29D-A513153FE1F8}" presName="compNode" presStyleCnt="0"/>
      <dgm:spPr/>
    </dgm:pt>
    <dgm:pt modelId="{C27BAA77-1078-442F-8D31-91376F0AC907}" type="pres">
      <dgm:prSet presAssocID="{BD5827DB-7982-4194-B29D-A513153FE1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E99699F-B63D-46ED-9108-138204BEE7BD}" type="pres">
      <dgm:prSet presAssocID="{BD5827DB-7982-4194-B29D-A513153FE1F8}" presName="spaceRect" presStyleCnt="0"/>
      <dgm:spPr/>
    </dgm:pt>
    <dgm:pt modelId="{D802116C-250F-4F8C-B5B6-A0A75D69BDB2}" type="pres">
      <dgm:prSet presAssocID="{BD5827DB-7982-4194-B29D-A513153FE1F8}" presName="textRect" presStyleLbl="revTx" presStyleIdx="1" presStyleCnt="4">
        <dgm:presLayoutVars>
          <dgm:chMax val="1"/>
          <dgm:chPref val="1"/>
        </dgm:presLayoutVars>
      </dgm:prSet>
      <dgm:spPr/>
    </dgm:pt>
    <dgm:pt modelId="{8AF837CA-5589-4CE4-9D60-41C5D4495563}" type="pres">
      <dgm:prSet presAssocID="{CF900FAC-2B5B-4641-8AA6-819CD52528FD}" presName="sibTrans" presStyleCnt="0"/>
      <dgm:spPr/>
    </dgm:pt>
    <dgm:pt modelId="{D82C062A-ACE9-4255-A49A-0C3576D94E3B}" type="pres">
      <dgm:prSet presAssocID="{4BD5CFDC-8CE4-4F9A-8039-D1C6C4036B8D}" presName="compNode" presStyleCnt="0"/>
      <dgm:spPr/>
    </dgm:pt>
    <dgm:pt modelId="{64FC8F95-95A7-48C3-B6E0-FD8E33ACEA89}" type="pres">
      <dgm:prSet presAssocID="{4BD5CFDC-8CE4-4F9A-8039-D1C6C4036B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1B5603A3-2B3D-4D02-8027-99659D1559A1}" type="pres">
      <dgm:prSet presAssocID="{4BD5CFDC-8CE4-4F9A-8039-D1C6C4036B8D}" presName="spaceRect" presStyleCnt="0"/>
      <dgm:spPr/>
    </dgm:pt>
    <dgm:pt modelId="{D75F9538-F2FB-4FA4-8DFC-8D5EE9DB3420}" type="pres">
      <dgm:prSet presAssocID="{4BD5CFDC-8CE4-4F9A-8039-D1C6C4036B8D}" presName="textRect" presStyleLbl="revTx" presStyleIdx="2" presStyleCnt="4">
        <dgm:presLayoutVars>
          <dgm:chMax val="1"/>
          <dgm:chPref val="1"/>
        </dgm:presLayoutVars>
      </dgm:prSet>
      <dgm:spPr/>
    </dgm:pt>
    <dgm:pt modelId="{D3A0B86E-27D1-44A9-8D1D-9142854C6074}" type="pres">
      <dgm:prSet presAssocID="{AE0903B1-9F53-48C0-ADF6-27B5CD6A7555}" presName="sibTrans" presStyleCnt="0"/>
      <dgm:spPr/>
    </dgm:pt>
    <dgm:pt modelId="{32859845-CF45-4603-B743-3D5755659D09}" type="pres">
      <dgm:prSet presAssocID="{04407C6E-5327-4F27-BAFD-99B75DD383B8}" presName="compNode" presStyleCnt="0"/>
      <dgm:spPr/>
    </dgm:pt>
    <dgm:pt modelId="{EEA51417-DA5D-4411-A8D7-AF761B760A60}" type="pres">
      <dgm:prSet presAssocID="{04407C6E-5327-4F27-BAFD-99B75DD383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3391550-0EE1-42D8-BB8B-44F9B19C85F1}" type="pres">
      <dgm:prSet presAssocID="{04407C6E-5327-4F27-BAFD-99B75DD383B8}" presName="spaceRect" presStyleCnt="0"/>
      <dgm:spPr/>
    </dgm:pt>
    <dgm:pt modelId="{CBF9F5B1-A265-40C9-8A80-145658CF0493}" type="pres">
      <dgm:prSet presAssocID="{04407C6E-5327-4F27-BAFD-99B75DD383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A8EE326-BA42-4E43-B02D-651BF2D6FA58}" type="presOf" srcId="{5E8836C0-2C6C-42C8-8EDE-8618F9C68847}" destId="{FC9E6088-96E7-460E-B3B2-7983A932DDCC}" srcOrd="0" destOrd="0" presId="urn:microsoft.com/office/officeart/2018/2/layout/IconLabelList"/>
    <dgm:cxn modelId="{57A2D690-9234-4D72-B60A-EA4764CCAF7F}" type="presOf" srcId="{BD5827DB-7982-4194-B29D-A513153FE1F8}" destId="{D802116C-250F-4F8C-B5B6-A0A75D69BDB2}" srcOrd="0" destOrd="0" presId="urn:microsoft.com/office/officeart/2018/2/layout/IconLabelList"/>
    <dgm:cxn modelId="{C46C0E9B-8E45-4461-9611-C7C89CA7950B}" srcId="{5E8836C0-2C6C-42C8-8EDE-8618F9C68847}" destId="{BD5827DB-7982-4194-B29D-A513153FE1F8}" srcOrd="1" destOrd="0" parTransId="{124B11D1-CB9E-439E-A3C5-AE1B81F35FAA}" sibTransId="{CF900FAC-2B5B-4641-8AA6-819CD52528FD}"/>
    <dgm:cxn modelId="{DF746FBA-4396-4352-8F78-1B3E2445148F}" srcId="{5E8836C0-2C6C-42C8-8EDE-8618F9C68847}" destId="{0B0BE8D7-7E2C-43AB-AA16-CCCD50761933}" srcOrd="0" destOrd="0" parTransId="{E33C261C-1CF2-4365-93B2-413749EFFF2C}" sibTransId="{26B39C1F-C48D-4BF3-B6EF-93038F067E11}"/>
    <dgm:cxn modelId="{77CEC6C1-4714-4D2A-B416-37147F1E8490}" type="presOf" srcId="{4BD5CFDC-8CE4-4F9A-8039-D1C6C4036B8D}" destId="{D75F9538-F2FB-4FA4-8DFC-8D5EE9DB3420}" srcOrd="0" destOrd="0" presId="urn:microsoft.com/office/officeart/2018/2/layout/IconLabelList"/>
    <dgm:cxn modelId="{B0E7A4E2-83CB-4553-946B-CB67298B55DC}" type="presOf" srcId="{0B0BE8D7-7E2C-43AB-AA16-CCCD50761933}" destId="{7126E80E-06B5-4284-8A51-DC4735091E23}" srcOrd="0" destOrd="0" presId="urn:microsoft.com/office/officeart/2018/2/layout/IconLabelList"/>
    <dgm:cxn modelId="{5C510DE4-4D27-467F-B051-39F456D55CA7}" srcId="{5E8836C0-2C6C-42C8-8EDE-8618F9C68847}" destId="{4BD5CFDC-8CE4-4F9A-8039-D1C6C4036B8D}" srcOrd="2" destOrd="0" parTransId="{D12AB9AA-0353-41B0-8CE1-5A7BD4779275}" sibTransId="{AE0903B1-9F53-48C0-ADF6-27B5CD6A7555}"/>
    <dgm:cxn modelId="{8D1947F9-1C12-4643-A292-86521561D887}" srcId="{5E8836C0-2C6C-42C8-8EDE-8618F9C68847}" destId="{04407C6E-5327-4F27-BAFD-99B75DD383B8}" srcOrd="3" destOrd="0" parTransId="{62AAD575-D6C8-45F1-A8A3-BA0066C3C537}" sibTransId="{EB94C165-0C7E-4A1D-8F1F-F5D627C1B4B6}"/>
    <dgm:cxn modelId="{03C7C3FA-7064-4E63-B6D1-C7442AF319EE}" type="presOf" srcId="{04407C6E-5327-4F27-BAFD-99B75DD383B8}" destId="{CBF9F5B1-A265-40C9-8A80-145658CF0493}" srcOrd="0" destOrd="0" presId="urn:microsoft.com/office/officeart/2018/2/layout/IconLabelList"/>
    <dgm:cxn modelId="{84B8E6A1-CC09-4BF2-A506-2B3216076055}" type="presParOf" srcId="{FC9E6088-96E7-460E-B3B2-7983A932DDCC}" destId="{ADD64FFE-E18E-46B5-9B15-B2283768A412}" srcOrd="0" destOrd="0" presId="urn:microsoft.com/office/officeart/2018/2/layout/IconLabelList"/>
    <dgm:cxn modelId="{80020062-130A-458A-9508-CEB7661F9CC1}" type="presParOf" srcId="{ADD64FFE-E18E-46B5-9B15-B2283768A412}" destId="{378FBB43-8FAD-48AB-84E7-282CF9DE62D6}" srcOrd="0" destOrd="0" presId="urn:microsoft.com/office/officeart/2018/2/layout/IconLabelList"/>
    <dgm:cxn modelId="{50F852A9-96EA-4123-BACB-FC99FB915999}" type="presParOf" srcId="{ADD64FFE-E18E-46B5-9B15-B2283768A412}" destId="{640711C4-6122-4902-9062-EA6A4F78DA9F}" srcOrd="1" destOrd="0" presId="urn:microsoft.com/office/officeart/2018/2/layout/IconLabelList"/>
    <dgm:cxn modelId="{ADD765F0-FF54-4A86-86D8-7C96B145775A}" type="presParOf" srcId="{ADD64FFE-E18E-46B5-9B15-B2283768A412}" destId="{7126E80E-06B5-4284-8A51-DC4735091E23}" srcOrd="2" destOrd="0" presId="urn:microsoft.com/office/officeart/2018/2/layout/IconLabelList"/>
    <dgm:cxn modelId="{4C681FAA-6432-4EBE-95D3-DCA09D364ACC}" type="presParOf" srcId="{FC9E6088-96E7-460E-B3B2-7983A932DDCC}" destId="{787EDC07-5702-4C93-8F24-6E6A23AC340F}" srcOrd="1" destOrd="0" presId="urn:microsoft.com/office/officeart/2018/2/layout/IconLabelList"/>
    <dgm:cxn modelId="{833665BA-F6D9-442A-9A1D-9817136FDBFE}" type="presParOf" srcId="{FC9E6088-96E7-460E-B3B2-7983A932DDCC}" destId="{AD8CF2EE-23B3-4BDE-A4BE-32200F341B3F}" srcOrd="2" destOrd="0" presId="urn:microsoft.com/office/officeart/2018/2/layout/IconLabelList"/>
    <dgm:cxn modelId="{52AB4683-16FB-49ED-A013-36FF1A8F1542}" type="presParOf" srcId="{AD8CF2EE-23B3-4BDE-A4BE-32200F341B3F}" destId="{C27BAA77-1078-442F-8D31-91376F0AC907}" srcOrd="0" destOrd="0" presId="urn:microsoft.com/office/officeart/2018/2/layout/IconLabelList"/>
    <dgm:cxn modelId="{B1CB8EAB-FD70-486D-AE6D-731C86964023}" type="presParOf" srcId="{AD8CF2EE-23B3-4BDE-A4BE-32200F341B3F}" destId="{BE99699F-B63D-46ED-9108-138204BEE7BD}" srcOrd="1" destOrd="0" presId="urn:microsoft.com/office/officeart/2018/2/layout/IconLabelList"/>
    <dgm:cxn modelId="{8154FE09-9048-4C26-BD24-BC69C54BDF8F}" type="presParOf" srcId="{AD8CF2EE-23B3-4BDE-A4BE-32200F341B3F}" destId="{D802116C-250F-4F8C-B5B6-A0A75D69BDB2}" srcOrd="2" destOrd="0" presId="urn:microsoft.com/office/officeart/2018/2/layout/IconLabelList"/>
    <dgm:cxn modelId="{B8416967-C56D-483C-BE27-765C24796662}" type="presParOf" srcId="{FC9E6088-96E7-460E-B3B2-7983A932DDCC}" destId="{8AF837CA-5589-4CE4-9D60-41C5D4495563}" srcOrd="3" destOrd="0" presId="urn:microsoft.com/office/officeart/2018/2/layout/IconLabelList"/>
    <dgm:cxn modelId="{2E0A9F3C-AA98-47B6-8628-01A435037C3E}" type="presParOf" srcId="{FC9E6088-96E7-460E-B3B2-7983A932DDCC}" destId="{D82C062A-ACE9-4255-A49A-0C3576D94E3B}" srcOrd="4" destOrd="0" presId="urn:microsoft.com/office/officeart/2018/2/layout/IconLabelList"/>
    <dgm:cxn modelId="{6D267D75-D2BF-4BE5-B2B2-A1128B40ABC0}" type="presParOf" srcId="{D82C062A-ACE9-4255-A49A-0C3576D94E3B}" destId="{64FC8F95-95A7-48C3-B6E0-FD8E33ACEA89}" srcOrd="0" destOrd="0" presId="urn:microsoft.com/office/officeart/2018/2/layout/IconLabelList"/>
    <dgm:cxn modelId="{FBE4FFD3-C053-4B4F-AB14-751F51B1BD74}" type="presParOf" srcId="{D82C062A-ACE9-4255-A49A-0C3576D94E3B}" destId="{1B5603A3-2B3D-4D02-8027-99659D1559A1}" srcOrd="1" destOrd="0" presId="urn:microsoft.com/office/officeart/2018/2/layout/IconLabelList"/>
    <dgm:cxn modelId="{35F2E7DA-7F66-44D1-A0D3-C4D2123C07BA}" type="presParOf" srcId="{D82C062A-ACE9-4255-A49A-0C3576D94E3B}" destId="{D75F9538-F2FB-4FA4-8DFC-8D5EE9DB3420}" srcOrd="2" destOrd="0" presId="urn:microsoft.com/office/officeart/2018/2/layout/IconLabelList"/>
    <dgm:cxn modelId="{C14299EB-C30D-4607-822E-D68719C61468}" type="presParOf" srcId="{FC9E6088-96E7-460E-B3B2-7983A932DDCC}" destId="{D3A0B86E-27D1-44A9-8D1D-9142854C6074}" srcOrd="5" destOrd="0" presId="urn:microsoft.com/office/officeart/2018/2/layout/IconLabelList"/>
    <dgm:cxn modelId="{741846EE-8463-4740-90BF-9E85B807E4C2}" type="presParOf" srcId="{FC9E6088-96E7-460E-B3B2-7983A932DDCC}" destId="{32859845-CF45-4603-B743-3D5755659D09}" srcOrd="6" destOrd="0" presId="urn:microsoft.com/office/officeart/2018/2/layout/IconLabelList"/>
    <dgm:cxn modelId="{EC1A7ACB-6BF8-4F9F-8FDD-CCE9AE79CCA0}" type="presParOf" srcId="{32859845-CF45-4603-B743-3D5755659D09}" destId="{EEA51417-DA5D-4411-A8D7-AF761B760A60}" srcOrd="0" destOrd="0" presId="urn:microsoft.com/office/officeart/2018/2/layout/IconLabelList"/>
    <dgm:cxn modelId="{3AAF4FCE-C757-4542-97A4-67D2CF0DEC83}" type="presParOf" srcId="{32859845-CF45-4603-B743-3D5755659D09}" destId="{E3391550-0EE1-42D8-BB8B-44F9B19C85F1}" srcOrd="1" destOrd="0" presId="urn:microsoft.com/office/officeart/2018/2/layout/IconLabelList"/>
    <dgm:cxn modelId="{B19E1FBD-249E-4C9F-84E5-CADEFC03218C}" type="presParOf" srcId="{32859845-CF45-4603-B743-3D5755659D09}" destId="{CBF9F5B1-A265-40C9-8A80-145658CF04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ECBC9D-B8A0-4716-9024-14AF6652804B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D753D7-1EC7-478D-8D92-4608649EDA75}">
      <dgm:prSet/>
      <dgm:spPr/>
      <dgm:t>
        <a:bodyPr/>
        <a:lstStyle/>
        <a:p>
          <a:r>
            <a:rPr lang="en-US" b="0" i="0" baseline="0"/>
            <a:t>Depth-related features define well geometry and drilling style</a:t>
          </a:r>
          <a:endParaRPr lang="en-US"/>
        </a:p>
      </dgm:t>
    </dgm:pt>
    <dgm:pt modelId="{347B94B3-8ED4-4721-9043-82B7CF0A32BD}" type="parTrans" cxnId="{03F4CC57-D5E0-4A6A-9F07-BD5FBF2C00C3}">
      <dgm:prSet/>
      <dgm:spPr/>
      <dgm:t>
        <a:bodyPr/>
        <a:lstStyle/>
        <a:p>
          <a:endParaRPr lang="en-US"/>
        </a:p>
      </dgm:t>
    </dgm:pt>
    <dgm:pt modelId="{2B271075-3B7E-4B22-8E40-57E595A4CA3C}" type="sibTrans" cxnId="{03F4CC57-D5E0-4A6A-9F07-BD5FBF2C00C3}">
      <dgm:prSet/>
      <dgm:spPr/>
      <dgm:t>
        <a:bodyPr/>
        <a:lstStyle/>
        <a:p>
          <a:endParaRPr lang="en-US"/>
        </a:p>
      </dgm:t>
    </dgm:pt>
    <dgm:pt modelId="{097CEFAA-8CAA-420E-A851-23EE50323A89}">
      <dgm:prSet/>
      <dgm:spPr/>
      <dgm:t>
        <a:bodyPr/>
        <a:lstStyle/>
        <a:p>
          <a:r>
            <a:rPr lang="en-US" b="0" i="0" baseline="0"/>
            <a:t>Shallow-water drilling dominates offshore activity</a:t>
          </a:r>
          <a:endParaRPr lang="en-US"/>
        </a:p>
      </dgm:t>
    </dgm:pt>
    <dgm:pt modelId="{D931ABC6-CA49-4725-B88D-8906000DDD5C}" type="parTrans" cxnId="{094D571D-7443-4890-9401-2B95A0DC9FAE}">
      <dgm:prSet/>
      <dgm:spPr/>
      <dgm:t>
        <a:bodyPr/>
        <a:lstStyle/>
        <a:p>
          <a:endParaRPr lang="en-US"/>
        </a:p>
      </dgm:t>
    </dgm:pt>
    <dgm:pt modelId="{9497902E-40D2-4C9B-8E4F-63DA64377F58}" type="sibTrans" cxnId="{094D571D-7443-4890-9401-2B95A0DC9FAE}">
      <dgm:prSet/>
      <dgm:spPr/>
      <dgm:t>
        <a:bodyPr/>
        <a:lstStyle/>
        <a:p>
          <a:endParaRPr lang="en-US"/>
        </a:p>
      </dgm:t>
    </dgm:pt>
    <dgm:pt modelId="{61DA0CBA-ECBF-46C0-9EC3-FF78A4B4D5F6}">
      <dgm:prSet/>
      <dgm:spPr/>
      <dgm:t>
        <a:bodyPr/>
        <a:lstStyle/>
        <a:p>
          <a:r>
            <a:rPr lang="en-US" b="0" i="0" baseline="0"/>
            <a:t>Directional wells appear as deviations in MD vs TVD plot</a:t>
          </a:r>
          <a:endParaRPr lang="en-US"/>
        </a:p>
      </dgm:t>
    </dgm:pt>
    <dgm:pt modelId="{F99C3873-888D-421E-87DE-290B7DE48BB5}" type="parTrans" cxnId="{091969B4-7635-4906-A353-A75932F2D5D9}">
      <dgm:prSet/>
      <dgm:spPr/>
      <dgm:t>
        <a:bodyPr/>
        <a:lstStyle/>
        <a:p>
          <a:endParaRPr lang="en-US"/>
        </a:p>
      </dgm:t>
    </dgm:pt>
    <dgm:pt modelId="{1DD59513-5231-433D-9261-DD0621D11329}" type="sibTrans" cxnId="{091969B4-7635-4906-A353-A75932F2D5D9}">
      <dgm:prSet/>
      <dgm:spPr/>
      <dgm:t>
        <a:bodyPr/>
        <a:lstStyle/>
        <a:p>
          <a:endParaRPr lang="en-US"/>
        </a:p>
      </dgm:t>
    </dgm:pt>
    <dgm:pt modelId="{6F31853F-E954-4DA5-B2DE-24DC2184EE6A}">
      <dgm:prSet/>
      <dgm:spPr/>
      <dgm:t>
        <a:bodyPr/>
        <a:lstStyle/>
        <a:p>
          <a:r>
            <a:rPr lang="en-US" b="0" i="0" baseline="0"/>
            <a:t>Regional dominance of Gulf of Mexico confirmed visually</a:t>
          </a:r>
          <a:endParaRPr lang="en-US"/>
        </a:p>
      </dgm:t>
    </dgm:pt>
    <dgm:pt modelId="{8AEDF600-0340-45C2-BEF0-1CEF52809E90}" type="parTrans" cxnId="{96F39991-5531-4AD1-9325-545957EBC33D}">
      <dgm:prSet/>
      <dgm:spPr/>
      <dgm:t>
        <a:bodyPr/>
        <a:lstStyle/>
        <a:p>
          <a:endParaRPr lang="en-US"/>
        </a:p>
      </dgm:t>
    </dgm:pt>
    <dgm:pt modelId="{EEDFB2EF-D514-4551-A26C-D73A98B39E5B}" type="sibTrans" cxnId="{96F39991-5531-4AD1-9325-545957EBC33D}">
      <dgm:prSet/>
      <dgm:spPr/>
      <dgm:t>
        <a:bodyPr/>
        <a:lstStyle/>
        <a:p>
          <a:endParaRPr lang="en-US"/>
        </a:p>
      </dgm:t>
    </dgm:pt>
    <dgm:pt modelId="{98A3AEC6-F9BF-4541-8A4D-E64779D249AA}">
      <dgm:prSet/>
      <dgm:spPr/>
      <dgm:t>
        <a:bodyPr/>
        <a:lstStyle/>
        <a:p>
          <a:r>
            <a:rPr lang="en-US" b="0" i="0" baseline="0"/>
            <a:t>Engineered features provide deeper context on drilling operations</a:t>
          </a:r>
          <a:endParaRPr lang="en-US"/>
        </a:p>
      </dgm:t>
    </dgm:pt>
    <dgm:pt modelId="{F30BEDEB-6489-426F-8932-A2452CE327ED}" type="parTrans" cxnId="{6A1FE0F3-2E71-4B7C-856F-621876FCC310}">
      <dgm:prSet/>
      <dgm:spPr/>
      <dgm:t>
        <a:bodyPr/>
        <a:lstStyle/>
        <a:p>
          <a:endParaRPr lang="en-US"/>
        </a:p>
      </dgm:t>
    </dgm:pt>
    <dgm:pt modelId="{B7571AE1-A1BA-49D2-BE33-EBDE98A9081A}" type="sibTrans" cxnId="{6A1FE0F3-2E71-4B7C-856F-621876FCC310}">
      <dgm:prSet/>
      <dgm:spPr/>
      <dgm:t>
        <a:bodyPr/>
        <a:lstStyle/>
        <a:p>
          <a:endParaRPr lang="en-US"/>
        </a:p>
      </dgm:t>
    </dgm:pt>
    <dgm:pt modelId="{72E5CF6E-33C6-49D4-B34D-C6A6792043B3}" type="pres">
      <dgm:prSet presAssocID="{94ECBC9D-B8A0-4716-9024-14AF6652804B}" presName="diagram" presStyleCnt="0">
        <dgm:presLayoutVars>
          <dgm:dir/>
          <dgm:resizeHandles val="exact"/>
        </dgm:presLayoutVars>
      </dgm:prSet>
      <dgm:spPr/>
    </dgm:pt>
    <dgm:pt modelId="{C994100C-0D59-4E6E-984F-1579CD14B60D}" type="pres">
      <dgm:prSet presAssocID="{36D753D7-1EC7-478D-8D92-4608649EDA75}" presName="node" presStyleLbl="node1" presStyleIdx="0" presStyleCnt="5">
        <dgm:presLayoutVars>
          <dgm:bulletEnabled val="1"/>
        </dgm:presLayoutVars>
      </dgm:prSet>
      <dgm:spPr/>
    </dgm:pt>
    <dgm:pt modelId="{361C15A5-43AD-4EBB-AFCB-63DE328C63CC}" type="pres">
      <dgm:prSet presAssocID="{2B271075-3B7E-4B22-8E40-57E595A4CA3C}" presName="sibTrans" presStyleCnt="0"/>
      <dgm:spPr/>
    </dgm:pt>
    <dgm:pt modelId="{558069EB-5263-4FCD-846A-642DAEEA70B5}" type="pres">
      <dgm:prSet presAssocID="{097CEFAA-8CAA-420E-A851-23EE50323A89}" presName="node" presStyleLbl="node1" presStyleIdx="1" presStyleCnt="5">
        <dgm:presLayoutVars>
          <dgm:bulletEnabled val="1"/>
        </dgm:presLayoutVars>
      </dgm:prSet>
      <dgm:spPr/>
    </dgm:pt>
    <dgm:pt modelId="{B385F8E1-7918-4CE5-881F-B17588226E64}" type="pres">
      <dgm:prSet presAssocID="{9497902E-40D2-4C9B-8E4F-63DA64377F58}" presName="sibTrans" presStyleCnt="0"/>
      <dgm:spPr/>
    </dgm:pt>
    <dgm:pt modelId="{EC2EDA95-CDB0-430D-8429-672422E6C408}" type="pres">
      <dgm:prSet presAssocID="{61DA0CBA-ECBF-46C0-9EC3-FF78A4B4D5F6}" presName="node" presStyleLbl="node1" presStyleIdx="2" presStyleCnt="5">
        <dgm:presLayoutVars>
          <dgm:bulletEnabled val="1"/>
        </dgm:presLayoutVars>
      </dgm:prSet>
      <dgm:spPr/>
    </dgm:pt>
    <dgm:pt modelId="{2BD8C63A-6EE8-4AF0-ADE6-1F00B4417CEC}" type="pres">
      <dgm:prSet presAssocID="{1DD59513-5231-433D-9261-DD0621D11329}" presName="sibTrans" presStyleCnt="0"/>
      <dgm:spPr/>
    </dgm:pt>
    <dgm:pt modelId="{69123C6B-C83C-47F9-9F63-C9B98EA4C308}" type="pres">
      <dgm:prSet presAssocID="{6F31853F-E954-4DA5-B2DE-24DC2184EE6A}" presName="node" presStyleLbl="node1" presStyleIdx="3" presStyleCnt="5">
        <dgm:presLayoutVars>
          <dgm:bulletEnabled val="1"/>
        </dgm:presLayoutVars>
      </dgm:prSet>
      <dgm:spPr/>
    </dgm:pt>
    <dgm:pt modelId="{3177BAED-D8EE-446E-8DCD-ACD03D3BCB42}" type="pres">
      <dgm:prSet presAssocID="{EEDFB2EF-D514-4551-A26C-D73A98B39E5B}" presName="sibTrans" presStyleCnt="0"/>
      <dgm:spPr/>
    </dgm:pt>
    <dgm:pt modelId="{A2A1303B-DEED-4D5A-9135-974FBCFC8B4D}" type="pres">
      <dgm:prSet presAssocID="{98A3AEC6-F9BF-4541-8A4D-E64779D249AA}" presName="node" presStyleLbl="node1" presStyleIdx="4" presStyleCnt="5">
        <dgm:presLayoutVars>
          <dgm:bulletEnabled val="1"/>
        </dgm:presLayoutVars>
      </dgm:prSet>
      <dgm:spPr/>
    </dgm:pt>
  </dgm:ptLst>
  <dgm:cxnLst>
    <dgm:cxn modelId="{26E1C402-0D24-4D42-B204-9BBC9B6F4F1C}" type="presOf" srcId="{94ECBC9D-B8A0-4716-9024-14AF6652804B}" destId="{72E5CF6E-33C6-49D4-B34D-C6A6792043B3}" srcOrd="0" destOrd="0" presId="urn:microsoft.com/office/officeart/2005/8/layout/default"/>
    <dgm:cxn modelId="{094D571D-7443-4890-9401-2B95A0DC9FAE}" srcId="{94ECBC9D-B8A0-4716-9024-14AF6652804B}" destId="{097CEFAA-8CAA-420E-A851-23EE50323A89}" srcOrd="1" destOrd="0" parTransId="{D931ABC6-CA49-4725-B88D-8906000DDD5C}" sibTransId="{9497902E-40D2-4C9B-8E4F-63DA64377F58}"/>
    <dgm:cxn modelId="{CB64182E-D363-43D8-8B2E-75BD9E8A5C7A}" type="presOf" srcId="{097CEFAA-8CAA-420E-A851-23EE50323A89}" destId="{558069EB-5263-4FCD-846A-642DAEEA70B5}" srcOrd="0" destOrd="0" presId="urn:microsoft.com/office/officeart/2005/8/layout/default"/>
    <dgm:cxn modelId="{241F3B31-8C0E-4B12-A89B-C787D29D40D1}" type="presOf" srcId="{36D753D7-1EC7-478D-8D92-4608649EDA75}" destId="{C994100C-0D59-4E6E-984F-1579CD14B60D}" srcOrd="0" destOrd="0" presId="urn:microsoft.com/office/officeart/2005/8/layout/default"/>
    <dgm:cxn modelId="{46435340-576E-4D7C-809C-02B28EF017AD}" type="presOf" srcId="{61DA0CBA-ECBF-46C0-9EC3-FF78A4B4D5F6}" destId="{EC2EDA95-CDB0-430D-8429-672422E6C408}" srcOrd="0" destOrd="0" presId="urn:microsoft.com/office/officeart/2005/8/layout/default"/>
    <dgm:cxn modelId="{54787045-3F17-4AE3-8B32-287D213ED987}" type="presOf" srcId="{98A3AEC6-F9BF-4541-8A4D-E64779D249AA}" destId="{A2A1303B-DEED-4D5A-9135-974FBCFC8B4D}" srcOrd="0" destOrd="0" presId="urn:microsoft.com/office/officeart/2005/8/layout/default"/>
    <dgm:cxn modelId="{03F4CC57-D5E0-4A6A-9F07-BD5FBF2C00C3}" srcId="{94ECBC9D-B8A0-4716-9024-14AF6652804B}" destId="{36D753D7-1EC7-478D-8D92-4608649EDA75}" srcOrd="0" destOrd="0" parTransId="{347B94B3-8ED4-4721-9043-82B7CF0A32BD}" sibTransId="{2B271075-3B7E-4B22-8E40-57E595A4CA3C}"/>
    <dgm:cxn modelId="{F7B80785-70F0-45B7-A522-7E05F00C12D2}" type="presOf" srcId="{6F31853F-E954-4DA5-B2DE-24DC2184EE6A}" destId="{69123C6B-C83C-47F9-9F63-C9B98EA4C308}" srcOrd="0" destOrd="0" presId="urn:microsoft.com/office/officeart/2005/8/layout/default"/>
    <dgm:cxn modelId="{96F39991-5531-4AD1-9325-545957EBC33D}" srcId="{94ECBC9D-B8A0-4716-9024-14AF6652804B}" destId="{6F31853F-E954-4DA5-B2DE-24DC2184EE6A}" srcOrd="3" destOrd="0" parTransId="{8AEDF600-0340-45C2-BEF0-1CEF52809E90}" sibTransId="{EEDFB2EF-D514-4551-A26C-D73A98B39E5B}"/>
    <dgm:cxn modelId="{091969B4-7635-4906-A353-A75932F2D5D9}" srcId="{94ECBC9D-B8A0-4716-9024-14AF6652804B}" destId="{61DA0CBA-ECBF-46C0-9EC3-FF78A4B4D5F6}" srcOrd="2" destOrd="0" parTransId="{F99C3873-888D-421E-87DE-290B7DE48BB5}" sibTransId="{1DD59513-5231-433D-9261-DD0621D11329}"/>
    <dgm:cxn modelId="{6A1FE0F3-2E71-4B7C-856F-621876FCC310}" srcId="{94ECBC9D-B8A0-4716-9024-14AF6652804B}" destId="{98A3AEC6-F9BF-4541-8A4D-E64779D249AA}" srcOrd="4" destOrd="0" parTransId="{F30BEDEB-6489-426F-8932-A2452CE327ED}" sibTransId="{B7571AE1-A1BA-49D2-BE33-EBDE98A9081A}"/>
    <dgm:cxn modelId="{19FC35B0-75EB-4818-8B21-C27C74BEDE25}" type="presParOf" srcId="{72E5CF6E-33C6-49D4-B34D-C6A6792043B3}" destId="{C994100C-0D59-4E6E-984F-1579CD14B60D}" srcOrd="0" destOrd="0" presId="urn:microsoft.com/office/officeart/2005/8/layout/default"/>
    <dgm:cxn modelId="{67C87143-1D11-448B-8E0F-58417B4C3F67}" type="presParOf" srcId="{72E5CF6E-33C6-49D4-B34D-C6A6792043B3}" destId="{361C15A5-43AD-4EBB-AFCB-63DE328C63CC}" srcOrd="1" destOrd="0" presId="urn:microsoft.com/office/officeart/2005/8/layout/default"/>
    <dgm:cxn modelId="{7C0BC317-F20A-4FA7-992C-D5FC9406A646}" type="presParOf" srcId="{72E5CF6E-33C6-49D4-B34D-C6A6792043B3}" destId="{558069EB-5263-4FCD-846A-642DAEEA70B5}" srcOrd="2" destOrd="0" presId="urn:microsoft.com/office/officeart/2005/8/layout/default"/>
    <dgm:cxn modelId="{5CFA5832-CC63-42C0-BBF1-E6504F641574}" type="presParOf" srcId="{72E5CF6E-33C6-49D4-B34D-C6A6792043B3}" destId="{B385F8E1-7918-4CE5-881F-B17588226E64}" srcOrd="3" destOrd="0" presId="urn:microsoft.com/office/officeart/2005/8/layout/default"/>
    <dgm:cxn modelId="{C9AD4A9D-87E4-4BA4-B0C5-2DF68182F14F}" type="presParOf" srcId="{72E5CF6E-33C6-49D4-B34D-C6A6792043B3}" destId="{EC2EDA95-CDB0-430D-8429-672422E6C408}" srcOrd="4" destOrd="0" presId="urn:microsoft.com/office/officeart/2005/8/layout/default"/>
    <dgm:cxn modelId="{EEFF0136-40C9-4A85-9F9D-D425DBCD0A00}" type="presParOf" srcId="{72E5CF6E-33C6-49D4-B34D-C6A6792043B3}" destId="{2BD8C63A-6EE8-4AF0-ADE6-1F00B4417CEC}" srcOrd="5" destOrd="0" presId="urn:microsoft.com/office/officeart/2005/8/layout/default"/>
    <dgm:cxn modelId="{06D0AD47-FE14-4551-BA34-2341056724FA}" type="presParOf" srcId="{72E5CF6E-33C6-49D4-B34D-C6A6792043B3}" destId="{69123C6B-C83C-47F9-9F63-C9B98EA4C308}" srcOrd="6" destOrd="0" presId="urn:microsoft.com/office/officeart/2005/8/layout/default"/>
    <dgm:cxn modelId="{FC978F2B-9430-460C-9160-27D488F22911}" type="presParOf" srcId="{72E5CF6E-33C6-49D4-B34D-C6A6792043B3}" destId="{3177BAED-D8EE-446E-8DCD-ACD03D3BCB42}" srcOrd="7" destOrd="0" presId="urn:microsoft.com/office/officeart/2005/8/layout/default"/>
    <dgm:cxn modelId="{3E28DFCF-6D8B-4D34-A3AB-9BDE9D5CEF41}" type="presParOf" srcId="{72E5CF6E-33C6-49D4-B34D-C6A6792043B3}" destId="{A2A1303B-DEED-4D5A-9135-974FBCFC8B4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6DF47-CB6B-4FAE-B77F-913C5818F836}">
      <dsp:nvSpPr>
        <dsp:cNvPr id="0" name=""/>
        <dsp:cNvSpPr/>
      </dsp:nvSpPr>
      <dsp:spPr>
        <a:xfrm>
          <a:off x="388189" y="1063966"/>
          <a:ext cx="630439" cy="630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5F04B-9FFF-4465-A43F-F9ADAD0DC86F}">
      <dsp:nvSpPr>
        <dsp:cNvPr id="0" name=""/>
        <dsp:cNvSpPr/>
      </dsp:nvSpPr>
      <dsp:spPr>
        <a:xfrm>
          <a:off x="2920" y="1906242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Used processed dataset (df_viz = df_Gas_Oil.copy())</a:t>
          </a:r>
          <a:endParaRPr lang="en-US" sz="1100" kern="1200"/>
        </a:p>
      </dsp:txBody>
      <dsp:txXfrm>
        <a:off x="2920" y="1906242"/>
        <a:ext cx="1400976" cy="560390"/>
      </dsp:txXfrm>
    </dsp:sp>
    <dsp:sp modelId="{5EEAF7DF-BD2D-45EC-8D39-82DF58D65B9E}">
      <dsp:nvSpPr>
        <dsp:cNvPr id="0" name=""/>
        <dsp:cNvSpPr/>
      </dsp:nvSpPr>
      <dsp:spPr>
        <a:xfrm>
          <a:off x="2034336" y="1063966"/>
          <a:ext cx="630439" cy="630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204FE-3654-4E82-8700-6F6CA33DA91A}">
      <dsp:nvSpPr>
        <dsp:cNvPr id="0" name=""/>
        <dsp:cNvSpPr/>
      </dsp:nvSpPr>
      <dsp:spPr>
        <a:xfrm>
          <a:off x="1649067" y="1906242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Visuals created </a:t>
          </a:r>
          <a:r>
            <a:rPr lang="en-US" sz="1100" i="1" kern="1200"/>
            <a:t>after</a:t>
          </a:r>
          <a:r>
            <a:rPr lang="en-US" sz="1100" kern="1200"/>
            <a:t> cleaning, transformations, and feature engineering</a:t>
          </a:r>
        </a:p>
      </dsp:txBody>
      <dsp:txXfrm>
        <a:off x="1649067" y="1906242"/>
        <a:ext cx="1400976" cy="560390"/>
      </dsp:txXfrm>
    </dsp:sp>
    <dsp:sp modelId="{8CE9CAD7-0EEB-48D6-9473-09DC9F4BEA1D}">
      <dsp:nvSpPr>
        <dsp:cNvPr id="0" name=""/>
        <dsp:cNvSpPr/>
      </dsp:nvSpPr>
      <dsp:spPr>
        <a:xfrm>
          <a:off x="3680484" y="1063966"/>
          <a:ext cx="630439" cy="630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71B77-024F-439D-9FD1-D33A766322E2}">
      <dsp:nvSpPr>
        <dsp:cNvPr id="0" name=""/>
        <dsp:cNvSpPr/>
      </dsp:nvSpPr>
      <dsp:spPr>
        <a:xfrm>
          <a:off x="3295215" y="1906242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Focused on depth behavior, drilling patterns, regional distribution</a:t>
          </a:r>
        </a:p>
      </dsp:txBody>
      <dsp:txXfrm>
        <a:off x="3295215" y="1906242"/>
        <a:ext cx="1400976" cy="560390"/>
      </dsp:txXfrm>
    </dsp:sp>
    <dsp:sp modelId="{2940A20D-279F-40E2-9174-B403BA24EF40}">
      <dsp:nvSpPr>
        <dsp:cNvPr id="0" name=""/>
        <dsp:cNvSpPr/>
      </dsp:nvSpPr>
      <dsp:spPr>
        <a:xfrm>
          <a:off x="5326631" y="1063966"/>
          <a:ext cx="630439" cy="630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BDA89-5046-4C48-95E6-903153F7A002}">
      <dsp:nvSpPr>
        <dsp:cNvPr id="0" name=""/>
        <dsp:cNvSpPr/>
      </dsp:nvSpPr>
      <dsp:spPr>
        <a:xfrm>
          <a:off x="4941362" y="1906242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Combined univariate, bivariate, and multivariate visualizations</a:t>
          </a:r>
          <a:endParaRPr lang="en-US" sz="1100" kern="1200"/>
        </a:p>
      </dsp:txBody>
      <dsp:txXfrm>
        <a:off x="4941362" y="1906242"/>
        <a:ext cx="1400976" cy="560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FBB43-8FAD-48AB-84E7-282CF9DE62D6}">
      <dsp:nvSpPr>
        <dsp:cNvPr id="0" name=""/>
        <dsp:cNvSpPr/>
      </dsp:nvSpPr>
      <dsp:spPr>
        <a:xfrm>
          <a:off x="388189" y="495237"/>
          <a:ext cx="630439" cy="630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6E80E-06B5-4284-8A51-DC4735091E23}">
      <dsp:nvSpPr>
        <dsp:cNvPr id="0" name=""/>
        <dsp:cNvSpPr/>
      </dsp:nvSpPr>
      <dsp:spPr>
        <a:xfrm>
          <a:off x="2920" y="133586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Water Depth Distribution:</a:t>
          </a:r>
          <a:r>
            <a:rPr lang="en-US" sz="1100" kern="1200"/>
            <a:t> Majority of wells in shallow–mid-depth waters</a:t>
          </a:r>
        </a:p>
      </dsp:txBody>
      <dsp:txXfrm>
        <a:off x="2920" y="1335867"/>
        <a:ext cx="1400976" cy="560390"/>
      </dsp:txXfrm>
    </dsp:sp>
    <dsp:sp modelId="{C27BAA77-1078-442F-8D31-91376F0AC907}">
      <dsp:nvSpPr>
        <dsp:cNvPr id="0" name=""/>
        <dsp:cNvSpPr/>
      </dsp:nvSpPr>
      <dsp:spPr>
        <a:xfrm>
          <a:off x="2034336" y="495237"/>
          <a:ext cx="630439" cy="630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2116C-250F-4F8C-B5B6-A0A75D69BDB2}">
      <dsp:nvSpPr>
        <dsp:cNvPr id="0" name=""/>
        <dsp:cNvSpPr/>
      </dsp:nvSpPr>
      <dsp:spPr>
        <a:xfrm>
          <a:off x="1649067" y="133586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Measured Depth (MD):</a:t>
          </a:r>
          <a:r>
            <a:rPr lang="en-US" sz="1100" kern="1200" dirty="0"/>
            <a:t> Most wells drilled between 8,000–12,000 feet</a:t>
          </a:r>
        </a:p>
      </dsp:txBody>
      <dsp:txXfrm>
        <a:off x="1649067" y="1335867"/>
        <a:ext cx="1400976" cy="560390"/>
      </dsp:txXfrm>
    </dsp:sp>
    <dsp:sp modelId="{64FC8F95-95A7-48C3-B6E0-FD8E33ACEA89}">
      <dsp:nvSpPr>
        <dsp:cNvPr id="0" name=""/>
        <dsp:cNvSpPr/>
      </dsp:nvSpPr>
      <dsp:spPr>
        <a:xfrm>
          <a:off x="3680484" y="495237"/>
          <a:ext cx="630439" cy="630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F9538-F2FB-4FA4-8DFC-8D5EE9DB3420}">
      <dsp:nvSpPr>
        <dsp:cNvPr id="0" name=""/>
        <dsp:cNvSpPr/>
      </dsp:nvSpPr>
      <dsp:spPr>
        <a:xfrm>
          <a:off x="3295215" y="133586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Multi-peaked MD distribution → different drilling programs</a:t>
          </a:r>
        </a:p>
      </dsp:txBody>
      <dsp:txXfrm>
        <a:off x="3295215" y="1335867"/>
        <a:ext cx="1400976" cy="560390"/>
      </dsp:txXfrm>
    </dsp:sp>
    <dsp:sp modelId="{EEA51417-DA5D-4411-A8D7-AF761B760A60}">
      <dsp:nvSpPr>
        <dsp:cNvPr id="0" name=""/>
        <dsp:cNvSpPr/>
      </dsp:nvSpPr>
      <dsp:spPr>
        <a:xfrm>
          <a:off x="5326631" y="495237"/>
          <a:ext cx="630439" cy="630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9F5B1-A265-40C9-8A80-145658CF0493}">
      <dsp:nvSpPr>
        <dsp:cNvPr id="0" name=""/>
        <dsp:cNvSpPr/>
      </dsp:nvSpPr>
      <dsp:spPr>
        <a:xfrm>
          <a:off x="4941362" y="133586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Reveals environmental and operational character of wells</a:t>
          </a:r>
        </a:p>
      </dsp:txBody>
      <dsp:txXfrm>
        <a:off x="4941362" y="1335867"/>
        <a:ext cx="1400976" cy="560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4100C-0D59-4E6E-984F-1579CD14B60D}">
      <dsp:nvSpPr>
        <dsp:cNvPr id="0" name=""/>
        <dsp:cNvSpPr/>
      </dsp:nvSpPr>
      <dsp:spPr>
        <a:xfrm>
          <a:off x="0" y="244974"/>
          <a:ext cx="2255949" cy="13535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Depth-related features define well geometry and drilling style</a:t>
          </a:r>
          <a:endParaRPr lang="en-US" sz="1800" kern="1200"/>
        </a:p>
      </dsp:txBody>
      <dsp:txXfrm>
        <a:off x="0" y="244974"/>
        <a:ext cx="2255949" cy="1353569"/>
      </dsp:txXfrm>
    </dsp:sp>
    <dsp:sp modelId="{558069EB-5263-4FCD-846A-642DAEEA70B5}">
      <dsp:nvSpPr>
        <dsp:cNvPr id="0" name=""/>
        <dsp:cNvSpPr/>
      </dsp:nvSpPr>
      <dsp:spPr>
        <a:xfrm>
          <a:off x="2481543" y="244974"/>
          <a:ext cx="2255949" cy="135356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Shallow-water drilling dominates offshore activity</a:t>
          </a:r>
          <a:endParaRPr lang="en-US" sz="1800" kern="1200"/>
        </a:p>
      </dsp:txBody>
      <dsp:txXfrm>
        <a:off x="2481543" y="244974"/>
        <a:ext cx="2255949" cy="1353569"/>
      </dsp:txXfrm>
    </dsp:sp>
    <dsp:sp modelId="{EC2EDA95-CDB0-430D-8429-672422E6C408}">
      <dsp:nvSpPr>
        <dsp:cNvPr id="0" name=""/>
        <dsp:cNvSpPr/>
      </dsp:nvSpPr>
      <dsp:spPr>
        <a:xfrm>
          <a:off x="4963087" y="244974"/>
          <a:ext cx="2255949" cy="135356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Directional wells appear as deviations in MD vs TVD plot</a:t>
          </a:r>
          <a:endParaRPr lang="en-US" sz="1800" kern="1200"/>
        </a:p>
      </dsp:txBody>
      <dsp:txXfrm>
        <a:off x="4963087" y="244974"/>
        <a:ext cx="2255949" cy="1353569"/>
      </dsp:txXfrm>
    </dsp:sp>
    <dsp:sp modelId="{69123C6B-C83C-47F9-9F63-C9B98EA4C308}">
      <dsp:nvSpPr>
        <dsp:cNvPr id="0" name=""/>
        <dsp:cNvSpPr/>
      </dsp:nvSpPr>
      <dsp:spPr>
        <a:xfrm>
          <a:off x="1240771" y="1824138"/>
          <a:ext cx="2255949" cy="13535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Regional dominance of Gulf of Mexico confirmed visually</a:t>
          </a:r>
          <a:endParaRPr lang="en-US" sz="1800" kern="1200"/>
        </a:p>
      </dsp:txBody>
      <dsp:txXfrm>
        <a:off x="1240771" y="1824138"/>
        <a:ext cx="2255949" cy="1353569"/>
      </dsp:txXfrm>
    </dsp:sp>
    <dsp:sp modelId="{A2A1303B-DEED-4D5A-9135-974FBCFC8B4D}">
      <dsp:nvSpPr>
        <dsp:cNvPr id="0" name=""/>
        <dsp:cNvSpPr/>
      </dsp:nvSpPr>
      <dsp:spPr>
        <a:xfrm>
          <a:off x="3722315" y="1824138"/>
          <a:ext cx="2255949" cy="135356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Engineered features provide deeper context on drilling operations</a:t>
          </a:r>
          <a:endParaRPr lang="en-US" sz="1800" kern="1200"/>
        </a:p>
      </dsp:txBody>
      <dsp:txXfrm>
        <a:off x="3722315" y="1824138"/>
        <a:ext cx="2255949" cy="1353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5C9AD3-77CA-2482-C61E-1CC49C027E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63BF7-B275-6340-B4AA-F3A14F73D0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8888E-03B5-4831-9C76-1D6133B05A3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0B169-3024-F782-A7D7-A0651949D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University of Houston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B3A36-2955-C013-28DE-1D49D12CF9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B2D27-156F-4F05-96A8-EA7AD1D6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366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2346-C058-4CD2-A47F-08A499CE31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University of Houston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54B63-9F39-444C-881A-0F2E59401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6415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906BED6-4DA8-42F0-A218-05313FB466A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University of Houston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7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1E7CC-948D-48F9-866E-F942DED5BCD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8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2EB4-ED40-4E4D-B788-16829BC14AE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2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1D44-863F-46EF-8002-44B96A5293D5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9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449-9BD8-4FA6-825B-CFBCA3D97D3D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0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21FE-B623-4F9B-B859-AEC2DDD5498C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0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46075-99F3-4805-9EDA-384D7E076BF0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C442-5F56-4E0C-8D24-DDA2F55269D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8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78754-AC3C-427D-9E25-5C08372CA43C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8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E23D-5E98-43D5-BE3F-33E8B6C4E9A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9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7A52-9AEF-4315-BA74-CB9C7DA04EC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5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35AD-CE7A-4A86-97AA-A0CB747546C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4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D837E-1C41-496E-84F6-94B9556DD19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11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81C5-D197-4A2D-A005-156BD2517221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06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8AE8-B570-4446-A252-CFFF3855BA7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05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33DA30A3-B96A-4B71-B1A9-66211539BF9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06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8AD0-F2FF-41DE-8E71-13A17D48B71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6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906BED6-4DA8-42F0-A218-05313FB466A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University of Houston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27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1E7CC-948D-48F9-866E-F942DED5BCD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58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2EB4-ED40-4E4D-B788-16829BC14AE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81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1D44-863F-46EF-8002-44B96A5293D5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43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449-9BD8-4FA6-825B-CFBCA3D97D3D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76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21FE-B623-4F9B-B859-AEC2DDD5498C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23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46075-99F3-4805-9EDA-384D7E076BF0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4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C442-5F56-4E0C-8D24-DDA2F55269D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98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78754-AC3C-427D-9E25-5C08372CA43C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391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4E23D-5E98-43D5-BE3F-33E8B6C4E9A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04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7A52-9AEF-4315-BA74-CB9C7DA04EC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996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35AD-CE7A-4A86-97AA-A0CB747546C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865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D837E-1C41-496E-84F6-94B9556DD19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146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81C5-D197-4A2D-A005-156BD2517221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69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8AE8-B570-4446-A252-CFFF3855BA7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260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33DA30A3-B96A-4B71-B1A9-66211539BF9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379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8AD0-F2FF-41DE-8E71-13A17D48B71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6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40E3023-E4FA-4352-B693-649AEA3AA6C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University of Houston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5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40E3023-E4FA-4352-B693-649AEA3AA6C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University of Houston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0081"/>
            <a:ext cx="7772400" cy="2009986"/>
          </a:xfrm>
        </p:spPr>
        <p:txBody>
          <a:bodyPr/>
          <a:lstStyle/>
          <a:p>
            <a:pPr algn="ctr"/>
            <a:r>
              <a:rPr sz="4400" dirty="0">
                <a:latin typeface="Century Schoolbook" panose="02040604050505020304" pitchFamily="18" charset="0"/>
                <a:ea typeface="Verdana" panose="020B0604030504040204" pitchFamily="34" charset="0"/>
              </a:rPr>
              <a:t>Exploratory Data Analysis on BSEE Well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28881"/>
            <a:ext cx="7315200" cy="2658533"/>
          </a:xfrm>
        </p:spPr>
        <p:txBody>
          <a:bodyPr>
            <a:normAutofit/>
          </a:bodyPr>
          <a:lstStyle/>
          <a:p>
            <a:r>
              <a: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Manager</a:t>
            </a:r>
            <a:r>
              <a: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Nisarg Shah</a:t>
            </a:r>
          </a:p>
          <a:p>
            <a:r>
              <a: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Omkar Koli, Praveen Kumar G, Parva Shah, Nithin Lingala</a:t>
            </a:r>
          </a:p>
          <a:p>
            <a:r>
              <a: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Data Science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9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DC3D9-49A0-AD3E-FA4A-A88BE545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68135"/>
            <a:ext cx="3859795" cy="228660"/>
          </a:xfrm>
        </p:spPr>
        <p:txBody>
          <a:bodyPr/>
          <a:lstStyle/>
          <a:p>
            <a:r>
              <a:rPr lang="en-US" sz="1100" dirty="0">
                <a:solidFill>
                  <a:schemeClr val="tx1">
                    <a:alpha val="60000"/>
                  </a:schemeClr>
                </a:solidFill>
              </a:rPr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D10F-B1FB-998D-6F7D-3805D30F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A668-F790-BD30-8EC0-CE90F094D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754685" cy="3530600"/>
          </a:xfrm>
        </p:spPr>
        <p:txBody>
          <a:bodyPr>
            <a:normAutofit/>
          </a:bodyPr>
          <a:lstStyle/>
          <a:p>
            <a:pPr algn="just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Nisarg Shah – Data scraping</a:t>
            </a:r>
          </a:p>
          <a:p>
            <a:pPr algn="just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Nithin - EDA</a:t>
            </a:r>
          </a:p>
          <a:p>
            <a:pPr algn="just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Praveen – EDA and Data wrangling </a:t>
            </a:r>
          </a:p>
          <a:p>
            <a:pPr algn="just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Omkar – Data Visualization</a:t>
            </a:r>
          </a:p>
          <a:p>
            <a:pPr algn="just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Parva –Data mining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8333A-19C9-1863-388B-3F1FE609C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193101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Scraping: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Source: Bureau of Safety and Environmental Enforcement (BSEE).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Challenge: The website is a dynamic ASP.NET application (not static HTML).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Solution: Built a custom class-based Python scraper.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Tech Stack: Selenium (automation) &amp; </a:t>
            </a:r>
            <a:r>
              <a:rPr dirty="0" err="1"/>
              <a:t>BeautifulSoup</a:t>
            </a:r>
            <a:r>
              <a:rPr dirty="0"/>
              <a:t> (parsing).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Optimization: Programmatically set page size to 200 to reduce load times.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3A584-4BFD-C9CD-D2BD-629611E2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EA05-B31F-0444-269C-26282A34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of Data on website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A1A311-E894-4863-82D5-ECBA7A4C7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767" y="2252133"/>
            <a:ext cx="6104466" cy="38645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03916-C882-5782-3368-95D1B7B2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274588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Scraping: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187418" cy="3530600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 Volume: Successfully scraped ~20,000 well records.</a:t>
            </a:r>
            <a:endParaRPr lang="en-IN" dirty="0"/>
          </a:p>
          <a:p>
            <a:pPr>
              <a:spcAft>
                <a:spcPts val="1000"/>
              </a:spcAft>
              <a:defRPr sz="1800"/>
            </a:pPr>
            <a:r>
              <a:rPr lang="en-IN" dirty="0"/>
              <a:t>Reduced scraping time from 2hours to 12 minute by optimizing python script.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Dimensions: Extracted data across 24 distinct columns.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Key Features: API Well Number, Company Name, Spud Date, Status Code.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Outcome: Transformed unstructured web content into a structured CSV.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0B81-87E3-54C2-3508-848A63E1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Data Exploration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20,000 well records across 27 variables</a:t>
            </a:r>
          </a:p>
          <a:p>
            <a:r>
              <a:t>• Mix of numeric, categorical, and date features</a:t>
            </a:r>
          </a:p>
          <a:p>
            <a:r>
              <a:t>• Includes depths, geographic coordinates, company info</a:t>
            </a:r>
          </a:p>
          <a:p>
            <a:r>
              <a:t>• Suitable for analysis, modeling, and spatial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Feature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Water Depth averages ~150 ft (shallow-water dominant)</a:t>
            </a:r>
          </a:p>
          <a:p>
            <a:r>
              <a:t>• RKB centered around 90 ft → consistent rig elevation</a:t>
            </a:r>
          </a:p>
          <a:p>
            <a:r>
              <a:t>• Lat/Long tightly clustered → Gulf of America focus</a:t>
            </a:r>
          </a:p>
          <a:p>
            <a:r>
              <a:t>• Skewness detected in Water Depth due to deepwater wells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Variable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Region: Gulf of America ~92%, Pacific ~8%</a:t>
            </a:r>
          </a:p>
          <a:p>
            <a:r>
              <a:t>• Major operators: Apache, Chevron, Talos</a:t>
            </a:r>
          </a:p>
          <a:p>
            <a:r>
              <a:t>• Well Type dominated by Development wells (Type D)</a:t>
            </a:r>
          </a:p>
          <a:p>
            <a:r>
              <a:t>• Status Code: Mostly Plugged &amp; Abandoned (PA)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Values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KOP column had 73% missing → removed</a:t>
            </a:r>
          </a:p>
          <a:p>
            <a:r>
              <a:t>• Small gaps in numeric fields (&lt;1%) → median imputation</a:t>
            </a:r>
          </a:p>
          <a:p>
            <a:r>
              <a:t>• Missing dates represent ongoing well operations</a:t>
            </a:r>
          </a:p>
          <a:p>
            <a:r>
              <a:t>• Latitude/longitude missing in ~1% of wells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Water Depth values → legitimate deepwater wells</a:t>
            </a:r>
          </a:p>
          <a:p>
            <a:r>
              <a:t>• RKB shows minimal deviation</a:t>
            </a:r>
          </a:p>
          <a:p>
            <a:r>
              <a:t>• Coordinate outliers rare due to regional clustering</a:t>
            </a:r>
          </a:p>
          <a:p>
            <a:r>
              <a:t>• Outliers retained as operationally meaningful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dirty="0"/>
              <a:t>Removed empty column # (100% missing).</a:t>
            </a:r>
          </a:p>
          <a:p>
            <a:r>
              <a:rPr lang="en-US" dirty="0"/>
              <a:t>Replaced placeholder values "*****" with proper </a:t>
            </a:r>
            <a:r>
              <a:rPr lang="en-US" dirty="0" err="1"/>
              <a:t>NaN</a:t>
            </a:r>
            <a:r>
              <a:rPr lang="en-US" dirty="0"/>
              <a:t>.</a:t>
            </a:r>
          </a:p>
          <a:p>
            <a:r>
              <a:rPr lang="en-US" dirty="0"/>
              <a:t>Converted key depth columns (BH Total MD, TVD, True Vertical Depth) to </a:t>
            </a:r>
            <a:r>
              <a:rPr lang="en-US" b="1" dirty="0"/>
              <a:t>numeric</a:t>
            </a:r>
            <a:r>
              <a:rPr lang="en-US" dirty="0"/>
              <a:t>.</a:t>
            </a:r>
          </a:p>
          <a:p>
            <a:r>
              <a:rPr lang="en-US" dirty="0"/>
              <a:t>Converted drilling dates (Spud Date, Total Depth Date, Status Date) to </a:t>
            </a:r>
            <a:r>
              <a:rPr lang="en-US" b="1" dirty="0"/>
              <a:t>datetime</a:t>
            </a:r>
            <a:r>
              <a:rPr lang="en-US" dirty="0"/>
              <a:t>.</a:t>
            </a:r>
          </a:p>
          <a:p>
            <a:r>
              <a:rPr lang="en-US" dirty="0"/>
              <a:t>Standardized text fields (Region, Company Name, Status Codes) for consistency.</a:t>
            </a:r>
          </a:p>
          <a:p>
            <a:r>
              <a:rPr lang="en-US" dirty="0"/>
              <a:t>Ensured the dataset is clean, structured, and ready for transformation.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ACCB6-C96E-8E4F-BF33-654FA15F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A105-052E-548F-F160-8EE820C4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4A6B-958A-349B-BFD4-AAEE98F7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A004-8DFD-1FA7-3F97-48D887AA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Dropped KOP column</a:t>
            </a:r>
            <a:r>
              <a:rPr lang="en-US" dirty="0"/>
              <a:t> → 73% missing, no analytical value.</a:t>
            </a:r>
          </a:p>
          <a:p>
            <a:r>
              <a:rPr lang="en-US" b="1" dirty="0"/>
              <a:t>Median imputation</a:t>
            </a:r>
            <a:r>
              <a:rPr lang="en-US" dirty="0"/>
              <a:t> for small gaps in numeric fields: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Water Depth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RKB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BH Total MD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Vertical Depth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TVD Subsea</a:t>
            </a:r>
          </a:p>
          <a:p>
            <a:r>
              <a:rPr lang="en-US" b="1" dirty="0"/>
              <a:t>Kept missing dates &amp; coordinates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Represent wells still drilling / pending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real operational meaning (not errors).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E0C29-EB24-B76A-D317-BDC68C56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415D1-6C8F-C24B-6EE0-9E04A5AFA4ED}"/>
              </a:ext>
            </a:extLst>
          </p:cNvPr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  <p:extLst>
      <p:ext uri="{BB962C8B-B14F-4D97-AF65-F5344CB8AC3E}">
        <p14:creationId xmlns:p14="http://schemas.microsoft.com/office/powerpoint/2010/main" val="410767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8704C-1DBA-B4B3-B087-C32C4DC8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1662-C7BB-33D7-B12A-BA7252AF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A392-1829-E6CA-2339-F078C40B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Transformations</a:t>
            </a:r>
          </a:p>
          <a:p>
            <a:r>
              <a:rPr lang="en-IN" dirty="0"/>
              <a:t>Rounded coordinates to </a:t>
            </a:r>
            <a:r>
              <a:rPr lang="en-IN" b="1" dirty="0"/>
              <a:t>4 decimals</a:t>
            </a:r>
            <a:r>
              <a:rPr lang="en-IN" dirty="0"/>
              <a:t> for uniform precision.</a:t>
            </a:r>
          </a:p>
          <a:p>
            <a:r>
              <a:rPr lang="en-IN" dirty="0"/>
              <a:t>Cleaned and standardized all categorical variables.</a:t>
            </a:r>
          </a:p>
          <a:p>
            <a:r>
              <a:rPr lang="en-IN" b="1" dirty="0"/>
              <a:t>New Features Created</a:t>
            </a:r>
          </a:p>
          <a:p>
            <a:r>
              <a:rPr lang="en-IN" b="1" dirty="0"/>
              <a:t>Drilling Duration (days)</a:t>
            </a:r>
            <a:br>
              <a:rPr lang="en-IN" dirty="0"/>
            </a:br>
            <a:r>
              <a:rPr lang="en-IN" dirty="0"/>
              <a:t>→ Total Depth Date − Spud Date</a:t>
            </a:r>
          </a:p>
          <a:p>
            <a:r>
              <a:rPr lang="en-IN" b="1" dirty="0"/>
              <a:t>Depth Difference</a:t>
            </a:r>
            <a:br>
              <a:rPr lang="en-IN" dirty="0"/>
            </a:br>
            <a:r>
              <a:rPr lang="en-IN" dirty="0"/>
              <a:t>→ MD − TVD (identifies directional drilling)</a:t>
            </a:r>
          </a:p>
          <a:p>
            <a:r>
              <a:rPr lang="en-IN" b="1" dirty="0"/>
              <a:t>Deepwater Flag</a:t>
            </a:r>
            <a:br>
              <a:rPr lang="en-IN" dirty="0"/>
            </a:br>
            <a:r>
              <a:rPr lang="en-IN" dirty="0"/>
              <a:t>→ True for Water Depth &gt; 1000 ft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B4423-B497-3BC7-F652-78C40EE3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64114-BA1F-09E9-CD05-F8F3EED13142}"/>
              </a:ext>
            </a:extLst>
          </p:cNvPr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  <p:extLst>
      <p:ext uri="{BB962C8B-B14F-4D97-AF65-F5344CB8AC3E}">
        <p14:creationId xmlns:p14="http://schemas.microsoft.com/office/powerpoint/2010/main" val="2918884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B745-B1C5-ED63-28F0-290DFFBC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DB2C-8F8A-8A22-E497-FCC45221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Data Wrangling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8413CB-0F76-28F9-6620-87A2FCE2B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63600" y="2582989"/>
            <a:ext cx="6756400" cy="355875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749D-5847-D848-D497-1FDD1E93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3494F-D597-A9F9-996E-B4D619D75F67}"/>
              </a:ext>
            </a:extLst>
          </p:cNvPr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  <p:extLst>
      <p:ext uri="{BB962C8B-B14F-4D97-AF65-F5344CB8AC3E}">
        <p14:creationId xmlns:p14="http://schemas.microsoft.com/office/powerpoint/2010/main" val="313829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A351-13EE-82AC-B622-AD20D2F2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CA94-8A08-A03B-9327-7B9B7ACB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Data Wrangling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656E9-7FAD-A382-3799-8D279C0A0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E4EBD-9E1A-EA5C-7027-85CF57118485}"/>
              </a:ext>
            </a:extLst>
          </p:cNvPr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F6FFEE-BEE3-41EF-DAC0-17D7FB12E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50332"/>
            <a:ext cx="5331612" cy="412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9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8C90-F043-B933-AC37-142E0034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4BD7-D80E-FD7B-4373-BFFCC4C5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</a:t>
            </a:r>
            <a:r>
              <a:rPr lang="en-US" dirty="0"/>
              <a:t>DA 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4FF9-7A89-0530-4DEE-F5EC397F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359742"/>
            <a:ext cx="6345260" cy="3660058"/>
          </a:xfrm>
        </p:spPr>
        <p:txBody>
          <a:bodyPr>
            <a:noAutofit/>
          </a:bodyPr>
          <a:lstStyle/>
          <a:p>
            <a:r>
              <a:rPr lang="en-IN" b="1" dirty="0"/>
              <a:t>Correlation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Depth-related variables highly correlated (r &gt; 0.93).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Surface &amp; bottom coordinates nearly identical → mostly vertical wells.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Drilling Duration &amp; Water Depth weakly correlated → independent operational factors.</a:t>
            </a:r>
          </a:p>
          <a:p>
            <a:r>
              <a:rPr lang="en-IN" b="1" dirty="0"/>
              <a:t>Outlier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Outliers in Water Depth, Drilling Duration, Depth Difference → </a:t>
            </a:r>
            <a:r>
              <a:rPr lang="en-IN" sz="1100" b="1" dirty="0"/>
              <a:t>valid</a:t>
            </a:r>
            <a:r>
              <a:rPr lang="en-IN" sz="1100" dirty="0"/>
              <a:t>, not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Represent deepwater wells, long drilling campaigns, and directional drilling.</a:t>
            </a:r>
          </a:p>
          <a:p>
            <a:r>
              <a:rPr lang="en-IN" b="1" dirty="0"/>
              <a:t>Overall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Dataset is now </a:t>
            </a:r>
            <a:r>
              <a:rPr lang="en-IN" sz="1100" b="1" dirty="0"/>
              <a:t>clean, consistent, and enriched</a:t>
            </a:r>
            <a:r>
              <a:rPr lang="en-IN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Ready for advanced visualization and </a:t>
            </a:r>
            <a:r>
              <a:rPr lang="en-IN" sz="1100" dirty="0" err="1"/>
              <a:t>modeling</a:t>
            </a:r>
            <a:r>
              <a:rPr lang="en-IN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Engineered features provide deeper operational insights.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979A6-0F7D-8BEC-5055-C0F6151D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EDDB1-2DCD-043D-EBDE-2227793C99EC}"/>
              </a:ext>
            </a:extLst>
          </p:cNvPr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  <p:extLst>
      <p:ext uri="{BB962C8B-B14F-4D97-AF65-F5344CB8AC3E}">
        <p14:creationId xmlns:p14="http://schemas.microsoft.com/office/powerpoint/2010/main" val="321677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Framework</a:t>
            </a:r>
            <a:endParaRPr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7DA439C-622F-6AF9-F020-C4E4F10BF9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522417"/>
              </p:ext>
            </p:extLst>
          </p:nvPr>
        </p:nvGraphicFramePr>
        <p:xfrm>
          <a:off x="1278008" y="1118677"/>
          <a:ext cx="6345260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0E1A7-AE79-CA72-8421-88DEB4EE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  <p:pic>
        <p:nvPicPr>
          <p:cNvPr id="8" name="Picture 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19D96CD9-8E54-CA02-70AE-162F17762E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3540" y="3765755"/>
            <a:ext cx="5344442" cy="25997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Visualization: </a:t>
            </a:r>
            <a:r>
              <a:rPr lang="en-IN" dirty="0"/>
              <a:t>Univariate Visualizations</a:t>
            </a:r>
            <a:endParaRPr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8FDC091-FBC3-1D29-53C7-72A86DA9A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569149"/>
              </p:ext>
            </p:extLst>
          </p:nvPr>
        </p:nvGraphicFramePr>
        <p:xfrm>
          <a:off x="177217" y="1708556"/>
          <a:ext cx="6345260" cy="2391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40AD3-5F9C-7B33-EAA7-FC04C494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504DC-C516-4456-F1A8-9BBECC728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4980" y="3875499"/>
            <a:ext cx="5481803" cy="29825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1DFDD-6607-8410-42CE-623E21E9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>
                <a:solidFill>
                  <a:srgbClr val="EBEBEB"/>
                </a:solidFill>
              </a:rPr>
              <a:t>Regional Activity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C0817-065B-C6D7-F14C-B20A1E00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955" y="1907016"/>
            <a:ext cx="4793650" cy="30439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35C16-B8B1-3CFC-29AB-8F60C0D6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2120900"/>
            <a:ext cx="2350294" cy="3898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Gulf of Mexico is the dominant offshore region</a:t>
            </a:r>
          </a:p>
          <a:p>
            <a:r>
              <a:rPr lang="en-US">
                <a:solidFill>
                  <a:srgbClr val="FFFFFF"/>
                </a:solidFill>
              </a:rPr>
              <a:t>Pacific region contributes a minor share</a:t>
            </a:r>
          </a:p>
          <a:p>
            <a:r>
              <a:rPr lang="en-US">
                <a:solidFill>
                  <a:srgbClr val="FFFFFF"/>
                </a:solidFill>
              </a:rPr>
              <a:t>Regional distribution aligns with U.S. offshore drilling reality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C92AC-3DA8-A76B-3D1F-61D185CD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832" y="6391838"/>
            <a:ext cx="2894846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534631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64F9A-CADB-889A-2373-04C662AA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500">
                <a:solidFill>
                  <a:srgbClr val="EBEBEB"/>
                </a:solidFill>
              </a:rPr>
              <a:t>Bivariate Visualizations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241FF-1D17-A4D8-F3DB-6D08D955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955" y="1146024"/>
            <a:ext cx="4793650" cy="456595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8016-3BAD-F89E-714A-35E0FBA53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2120900"/>
            <a:ext cx="2350294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>
                <a:solidFill>
                  <a:srgbClr val="FFFFFF"/>
                </a:solidFill>
              </a:rPr>
              <a:t>MD vs TVD Scatter Plot: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Points along the diagonal → mostly vertical wells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Points above diagonal → directional/drift wells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Shows drilling behavior and well geometry</a:t>
            </a:r>
          </a:p>
          <a:p>
            <a:pPr>
              <a:lnSpc>
                <a:spcPct val="90000"/>
              </a:lnSpc>
            </a:pPr>
            <a:endParaRPr lang="en-IN">
              <a:solidFill>
                <a:srgbClr val="FFFFFF"/>
              </a:solidFill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80F7F-ECA3-E2E3-3793-4D9BA1A1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832" y="6391838"/>
            <a:ext cx="2894846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1941917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485557-E744-401B-A251-3650FAEEA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6D68AF-6B45-4B98-8634-61D8C9C0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0143DE54-7BFF-4B29-8566-DF80EE4C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22530-FED1-321C-D975-BE1A46C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>
                <a:solidFill>
                  <a:srgbClr val="FFFFFE"/>
                </a:solidFill>
              </a:rPr>
              <a:t>Multivariate Insights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7C661810-D461-4214-A635-30A7D1714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FED81-E1A4-E384-76CF-9CD7917DF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955" y="2334269"/>
            <a:ext cx="2335427" cy="2189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D4DB16-668B-F6EA-CAC8-365F42887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77" y="2448119"/>
            <a:ext cx="2335428" cy="196175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D6475A3-FF98-4FA0-B527-600EBA9BD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E68BD6-AA4D-6E5D-A278-75F6B4251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216" y="2120900"/>
            <a:ext cx="2350294" cy="3898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Correlation Heatmap of key features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Strong correlation between MD &amp; TVD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Weak correlation between Drilling Duration &amp; depth variables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Pairplot shows consistent relationships among depth metrics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03E9E-9ED3-1F3D-D8B3-D45AA801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832" y="6391838"/>
            <a:ext cx="2894846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4033071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8057E1-8EDA-63EC-45B9-0DEEEE0F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Key Takeaways from Visualization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22D02-DAA5-1A48-8CEC-6DE7BADB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832" y="6391838"/>
            <a:ext cx="2894846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University of Houston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82862333-6F1E-EEF0-091D-660A68145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038312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3665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Mining: Pattern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• Correlation: Strong positive link between 'BH Total MD' and 'True Vertical Depth'.</a:t>
            </a:r>
          </a:p>
          <a:p>
            <a:pPr>
              <a:spcAft>
                <a:spcPts val="1000"/>
              </a:spcAft>
              <a:defRPr sz="1800"/>
            </a:pPr>
            <a:r>
              <a:t>• Geospatial Mining: Average Water Depth varies significantly by Region.</a:t>
            </a:r>
          </a:p>
          <a:p>
            <a:pPr>
              <a:spcAft>
                <a:spcPts val="1000"/>
              </a:spcAft>
              <a:defRPr sz="1800"/>
            </a:pPr>
            <a:r>
              <a:t>• Anomaly Detection: Identified the deepest well as a specific outlier.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29DAB-50D5-34D2-529E-E12C6FD3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Mining: Strategic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• Lifecycle Narrative: Traced typical well life from Spudding to Abandonment.</a:t>
            </a:r>
          </a:p>
          <a:p>
            <a:pPr>
              <a:spcAft>
                <a:spcPts val="1000"/>
              </a:spcAft>
              <a:defRPr sz="1800"/>
            </a:pPr>
            <a:r>
              <a:t>• Tech Advancement: Increasing well depths over time indicates better tech.</a:t>
            </a:r>
          </a:p>
          <a:p>
            <a:pPr>
              <a:spcAft>
                <a:spcPts val="1000"/>
              </a:spcAft>
              <a:defRPr sz="1800"/>
            </a:pPr>
            <a:r>
              <a:t>• Operational Landscape: Distinct clusters of Active vs. Legacy wells.</a:t>
            </a:r>
          </a:p>
          <a:p>
            <a:pPr>
              <a:spcAft>
                <a:spcPts val="1000"/>
              </a:spcAft>
              <a:defRPr sz="1800"/>
            </a:pPr>
            <a:r>
              <a:t>• Decision Support: Predict maintenance needs based on well age/depth.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448AD-A870-B61B-D982-1B0238A0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Group 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273E-69BE-DB24-EAE5-9EC250863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0268" y="1388303"/>
            <a:ext cx="5917679" cy="2550877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0437C-D0FC-F43F-EC5F-A4AB41BEB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DC9D9-D2CA-FA2D-B685-F8F51008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Houston</a:t>
            </a:r>
          </a:p>
        </p:txBody>
      </p:sp>
    </p:spTree>
    <p:extLst>
      <p:ext uri="{BB962C8B-B14F-4D97-AF65-F5344CB8AC3E}">
        <p14:creationId xmlns:p14="http://schemas.microsoft.com/office/powerpoint/2010/main" val="25355680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1115</Words>
  <Application>Microsoft Office PowerPoint</Application>
  <PresentationFormat>On-screen Show (4:3)</PresentationFormat>
  <Paragraphs>167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Century Gothic</vt:lpstr>
      <vt:lpstr>Century Schoolbook</vt:lpstr>
      <vt:lpstr>Times New Roman</vt:lpstr>
      <vt:lpstr>Wingdings 3</vt:lpstr>
      <vt:lpstr>Ion Boardroom</vt:lpstr>
      <vt:lpstr>1_Ion Boardroom</vt:lpstr>
      <vt:lpstr>Exploratory Data Analysis on BSEE Well Data</vt:lpstr>
      <vt:lpstr>Work Allocation</vt:lpstr>
      <vt:lpstr>Data Scraping: Methodology</vt:lpstr>
      <vt:lpstr>Screenshot of Data on website</vt:lpstr>
      <vt:lpstr>Data Scraping: Results</vt:lpstr>
      <vt:lpstr>Basic Data Exploration – Overview</vt:lpstr>
      <vt:lpstr>Numerical Feature Summary</vt:lpstr>
      <vt:lpstr>Categorical Variable Insights</vt:lpstr>
      <vt:lpstr>Missing Values Summary</vt:lpstr>
      <vt:lpstr>Outlier Analysis</vt:lpstr>
      <vt:lpstr>EDA: Data Wrangling</vt:lpstr>
      <vt:lpstr>EDA: Data Wrangling</vt:lpstr>
      <vt:lpstr>EDA: Data Wrangling</vt:lpstr>
      <vt:lpstr>EDA: Data Wrangling</vt:lpstr>
      <vt:lpstr>EDA: Data Wrangling</vt:lpstr>
      <vt:lpstr>EDA SUMMARY</vt:lpstr>
      <vt:lpstr>Data Visualization Framework</vt:lpstr>
      <vt:lpstr>Data Visualization: Univariate Visualizations</vt:lpstr>
      <vt:lpstr>Regional Activity Visualization</vt:lpstr>
      <vt:lpstr>Bivariate Visualizations</vt:lpstr>
      <vt:lpstr>Multivariate Insights</vt:lpstr>
      <vt:lpstr>Key Takeaways from Visualization</vt:lpstr>
      <vt:lpstr>Data Mining: Pattern Discovery</vt:lpstr>
      <vt:lpstr>Data Mining: Strategic Takeaways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PRAVEEN KUMAR GORREPATI</dc:creator>
  <cp:keywords/>
  <dc:description>generated using python-pptx</dc:description>
  <cp:lastModifiedBy>NISARG SHAH</cp:lastModifiedBy>
  <cp:revision>10</cp:revision>
  <dcterms:created xsi:type="dcterms:W3CDTF">2013-01-27T09:14:16Z</dcterms:created>
  <dcterms:modified xsi:type="dcterms:W3CDTF">2025-11-26T02:05:25Z</dcterms:modified>
  <cp:category/>
</cp:coreProperties>
</file>